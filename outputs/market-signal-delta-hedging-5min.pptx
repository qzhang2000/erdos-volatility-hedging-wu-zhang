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05aec84aa04498" /><Relationship Type="http://schemas.openxmlformats.org/officeDocument/2006/relationships/extended-properties" Target="/docProps/app.xml" Id="R4b75d1d208e64e6d" /><Relationship Type="http://schemas.openxmlformats.org/officeDocument/2006/relationships/officeDocument" Target="/ppt/presentation.xml" Id="R1d8d25b058c74e07" /></Relationships>
</file>

<file path=ppt/presentation.xml><?xml version="1.0" encoding="utf-8"?>
<p:presentation xmlns:p="http://schemas.openxmlformats.org/presentationml/2006/main">
  <p:sldMasterIdLst>
    <p:sldMasterId xmlns:r="http://schemas.openxmlformats.org/officeDocument/2006/relationships" id="2147483648" r:id="R8766d6ca0f2244b1"/>
  </p:sldMasterIdLst>
  <p:notesMasterIdLst>
    <p:notesMasterId xmlns:r="http://schemas.openxmlformats.org/officeDocument/2006/relationships" r:id="Rb273715801384265"/>
  </p:notesMasterIdLst>
  <p:sldIdLst>
    <p:sldId xmlns:r="http://schemas.openxmlformats.org/officeDocument/2006/relationships" id="256" r:id="R98abdf5f0a344ed8"/>
    <p:sldId xmlns:r="http://schemas.openxmlformats.org/officeDocument/2006/relationships" id="257" r:id="Rca7bc959430643e4"/>
    <p:sldId xmlns:r="http://schemas.openxmlformats.org/officeDocument/2006/relationships" id="258" r:id="Rf3ac07d1442d4008"/>
    <p:sldId xmlns:r="http://schemas.openxmlformats.org/officeDocument/2006/relationships" id="259" r:id="Rb38825134a8247b9"/>
    <p:sldId xmlns:r="http://schemas.openxmlformats.org/officeDocument/2006/relationships" id="260" r:id="R94fd207dcdf841cf"/>
    <p:sldId xmlns:r="http://schemas.openxmlformats.org/officeDocument/2006/relationships" id="261" r:id="Raa25e09751d14c7f"/>
    <p:sldId xmlns:r="http://schemas.openxmlformats.org/officeDocument/2006/relationships" id="262" r:id="R98f1a83a8f234ad8"/>
    <p:sldId xmlns:r="http://schemas.openxmlformats.org/officeDocument/2006/relationships" id="263" r:id="R93c94be582cf4e49"/>
    <p:sldId xmlns:r="http://schemas.openxmlformats.org/officeDocument/2006/relationships" id="264" r:id="R4fb59e3b4aae4e73"/>
    <p:sldId xmlns:r="http://schemas.openxmlformats.org/officeDocument/2006/relationships" id="265" r:id="R331163e70804477f"/>
    <p:sldId xmlns:r="http://schemas.openxmlformats.org/officeDocument/2006/relationships" id="266" r:id="R7a7f66086c72473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d24e8d372c4a49" /><Relationship Type="http://schemas.openxmlformats.org/officeDocument/2006/relationships/slideMaster" Target="/ppt/slideMasters/slideMaster1.xml" Id="R8766d6ca0f2244b1" /><Relationship Type="http://schemas.openxmlformats.org/officeDocument/2006/relationships/notesMaster" Target="/ppt/notesMasters/notesMaster1.xml" Id="Rb273715801384265" /><Relationship Type="http://schemas.openxmlformats.org/officeDocument/2006/relationships/presProps" Target="/ppt/presProps.xml" Id="R8dd93602ed50462b" /><Relationship Type="http://schemas.openxmlformats.org/officeDocument/2006/relationships/tableStyles" Target="/ppt/tableStyles.xml" Id="R3c43bdd1f2f6427f" /><Relationship Type="http://schemas.openxmlformats.org/officeDocument/2006/relationships/slide" Target="/ppt/slides/slide1.xml" Id="R98abdf5f0a344ed8" /><Relationship Type="http://schemas.openxmlformats.org/officeDocument/2006/relationships/slide" Target="/ppt/slides/slide2.xml" Id="Rca7bc959430643e4" /><Relationship Type="http://schemas.openxmlformats.org/officeDocument/2006/relationships/slide" Target="/ppt/slides/slide3.xml" Id="Rf3ac07d1442d4008" /><Relationship Type="http://schemas.openxmlformats.org/officeDocument/2006/relationships/slide" Target="/ppt/slides/slide4.xml" Id="Rb38825134a8247b9" /><Relationship Type="http://schemas.openxmlformats.org/officeDocument/2006/relationships/slide" Target="/ppt/slides/slide5.xml" Id="R94fd207dcdf841cf" /><Relationship Type="http://schemas.openxmlformats.org/officeDocument/2006/relationships/slide" Target="/ppt/slides/slide6.xml" Id="Raa25e09751d14c7f" /><Relationship Type="http://schemas.openxmlformats.org/officeDocument/2006/relationships/slide" Target="/ppt/slides/slide7.xml" Id="R98f1a83a8f234ad8" /><Relationship Type="http://schemas.openxmlformats.org/officeDocument/2006/relationships/slide" Target="/ppt/slides/slide8.xml" Id="R93c94be582cf4e49" /><Relationship Type="http://schemas.openxmlformats.org/officeDocument/2006/relationships/slide" Target="/ppt/slides/slide9.xml" Id="R4fb59e3b4aae4e73" /><Relationship Type="http://schemas.openxmlformats.org/officeDocument/2006/relationships/slide" Target="/ppt/slides/slide10.xml" Id="R331163e70804477f" /><Relationship Type="http://schemas.openxmlformats.org/officeDocument/2006/relationships/slide" Target="/ppt/slides/slide11.xml" Id="R7a7f66086c7247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31db2c7029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6ed9e36764e00" /><Relationship Type="http://schemas.openxmlformats.org/officeDocument/2006/relationships/notesMaster" Target="/ppt/notesMasters/notesMaster1.xml" Id="Rd4e918bea76141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70da6814174e9f" /><Relationship Type="http://schemas.openxmlformats.org/officeDocument/2006/relationships/notesMaster" Target="/ppt/notesMasters/notesMaster1.xml" Id="R11fb5f44f1714a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1eb034d8e94269" /><Relationship Type="http://schemas.openxmlformats.org/officeDocument/2006/relationships/notesMaster" Target="/ppt/notesMasters/notesMaster1.xml" Id="Rd687d2bafe064d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c2f108aae14bbc" /><Relationship Type="http://schemas.openxmlformats.org/officeDocument/2006/relationships/notesMaster" Target="/ppt/notesMasters/notesMaster1.xml" Id="Rdd72e25d956047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5de65209514160" /><Relationship Type="http://schemas.openxmlformats.org/officeDocument/2006/relationships/notesMaster" Target="/ppt/notesMasters/notesMaster1.xml" Id="R9f5e6ca3d08244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4b580d440d46e3" /><Relationship Type="http://schemas.openxmlformats.org/officeDocument/2006/relationships/notesMaster" Target="/ppt/notesMasters/notesMaster1.xml" Id="Rf70480a1c1f945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876634ca1f47b3" /><Relationship Type="http://schemas.openxmlformats.org/officeDocument/2006/relationships/notesMaster" Target="/ppt/notesMasters/notesMaster1.xml" Id="R45bf72803d6444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73b77448f34d0c" /><Relationship Type="http://schemas.openxmlformats.org/officeDocument/2006/relationships/notesMaster" Target="/ppt/notesMasters/notesMaster1.xml" Id="R11ecd346164c4f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f409d0c04a4961" /><Relationship Type="http://schemas.openxmlformats.org/officeDocument/2006/relationships/notesMaster" Target="/ppt/notesMasters/notesMaster1.xml" Id="Rcf4e927993ab4d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b0d54142bc4134" /><Relationship Type="http://schemas.openxmlformats.org/officeDocument/2006/relationships/notesMaster" Target="/ppt/notesMasters/notesMaster1.xml" Id="R8ffa9c7f7ca543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2881eed23247dd" /><Relationship Type="http://schemas.openxmlformats.org/officeDocument/2006/relationships/notesMaster" Target="/ppt/notesMasters/notesMaster1.xml" Id="R90fc9f02418b42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can information we observe in the market improve a standard Black–Scholes hedge? Our answer is nuanced. VIX helps with large losses, but our more complex composite signal does not improve average error. We will show both the positive and negative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be precise about scope. The SPY paths and market signals are real historical observations. The calls are standardized experimental claims, not downloaded historical option contracts. This lets us compare hedge rules fairly, but it means we are studying replication rather than actual option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methods use exactly the same Black–Scholes delta formula and the same daily rebalancing engine. Only the volatility input changes. FV-BS freezes realized volatility. Rolling-BS updates it. VIX-BS uses forward-looking market volatility. MSA-Delta combines seven signals into a risk-state multiplier. This common engine isolates the value of the volatility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composite model. We standardize seven trailing variables and combine them with fixed weights. VIX rank receives the largest weight, followed by VIX level and realized-volatility acceleration. Training-period quantiles classify normal, elevated, and stress states. The selected validation rule multiplies rolling volatility by one, one point one five, or one point four. No future data enters the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worked example shows the mechanism. Consider a 21-day call with spot one hundred and strike one hundred five. In a normal state, twenty percent volatility gives delta zero point two two zero. A stress multiplier raises volatility to twenty-eight percent and delta to zero point two nine seven, so the hedge buys about zero point zero seven seven additional shares per option. For an at-the-money option, however, this volatility change barely moves delta. That is one reason the composite rule can help some contracts without improving the overall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avoid drawing a conclusion from one contract. The held-out grid crosses three maturities and three strike-to-spot ratios, with new episodes every five trading days. That produces one thousand one hundred forty-nine claims for each strategy. We also rerun the comparison at zero, five, and ten basis points of transaction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chronology is the key leakage control. Training estimates scaling and thresholds. Validation selects one of only three predeclared MSA settings. We then refit on training plus validation and evaluate the test period exactly once. The final test contains one thousand one hundred forty-nine contracts per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main held-out results. Fixed-volatility Black–Scholes has the lowest mean absolute error at one point five five two. VIX-BS has the lowest root mean squared error at two point three nine nine. That means the simplest rule is best on the typical absolute miss, while VIX performs better when large errors receive more weight. MSA-Delta does not win either headline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 risk tells a more favorable story for VIX. Its ninety-five percent loss expected shortfall is five point five two, versus six point seven five for FV-BS. But the bootstrap chart is deliberately sobering: positive bars would mean lower MAE than FV-BS, and all point estimates are negative. The Rolling-BS interval crosses zero; VIX and MSA do not. So VIX improves tail behavior, not average absolute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ranking is not an artifact of our five-basis-point assumption. At zero, five, and ten basis points, FV-BS retains the lowest MAE and VIX-BS retains the lowest RMSE. We also report every maturity and moneyness cell separately in the repository, so the pooled result is not the only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conclusion is not that signals are useless. Option-market information from VIX clearly helps control large errors. The conclusion is that additional complexity did not add robust average-error value. We would keep VIX as the strongest tail-risk benchmark, reject a blanket complexity claim, and next test contract-level option quotes when licensed data become available. Thank you—we welcome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ff0c6c40754d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4f558a87594cd7" /><Relationship Type="http://schemas.openxmlformats.org/officeDocument/2006/relationships/slideLayout" Target="/ppt/slideLayouts/slideLayout1.xml" Id="R00314609aac340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314609aac340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f309fabd1f4996" /><Relationship Type="http://schemas.openxmlformats.org/officeDocument/2006/relationships/notesSlide" Target="/ppt/notesSlides/notesSlide1.xml" Id="R0b4c250e49234d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60cb30244242c3" /><Relationship Type="http://schemas.openxmlformats.org/officeDocument/2006/relationships/notesSlide" Target="/ppt/notesSlides/notesSlide2.xml" Id="R864282e37a8442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ec7ee8e07a45a8" /><Relationship Type="http://schemas.openxmlformats.org/officeDocument/2006/relationships/notesSlide" Target="/ppt/notesSlides/notesSlide3.xml" Id="R0c49ca0e8bf444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ec2a73bbee478f" /><Relationship Type="http://schemas.openxmlformats.org/officeDocument/2006/relationships/notesSlide" Target="/ppt/notesSlides/notesSlide4.xml" Id="R421bc907184c42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6edb9970f144a9" /><Relationship Type="http://schemas.openxmlformats.org/officeDocument/2006/relationships/notesSlide" Target="/ppt/notesSlides/notesSlide5.xml" Id="Raf993d0b82d140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b3f5cc37024015" /><Relationship Type="http://schemas.openxmlformats.org/officeDocument/2006/relationships/notesSlide" Target="/ppt/notesSlides/notesSlide6.xml" Id="Rd097e8d427f14c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5f7f86eb874894" /><Relationship Type="http://schemas.openxmlformats.org/officeDocument/2006/relationships/notesSlide" Target="/ppt/notesSlides/notesSlide7.xml" Id="R353f671d21df41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e864558e804486" /><Relationship Type="http://schemas.openxmlformats.org/officeDocument/2006/relationships/image" Target="/ppt/media/image.png" Id="R230e4bb06d4e4c35" /><Relationship Type="http://schemas.openxmlformats.org/officeDocument/2006/relationships/notesSlide" Target="/ppt/notesSlides/notesSlide8.xml" Id="R846242c0e2104d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1ac6c120684f7c" /><Relationship Type="http://schemas.openxmlformats.org/officeDocument/2006/relationships/image" Target="/ppt/media/image2.png" Id="R5d5b4099636a4878" /><Relationship Type="http://schemas.openxmlformats.org/officeDocument/2006/relationships/notesSlide" Target="/ppt/notesSlides/notesSlide9.xml" Id="R6582957a4ba244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69fe1ae195428f" /><Relationship Type="http://schemas.openxmlformats.org/officeDocument/2006/relationships/notesSlide" Target="/ppt/notesSlides/notesSlide10.xml" Id="R24812649542a48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592b67a892452c" /><Relationship Type="http://schemas.openxmlformats.org/officeDocument/2006/relationships/notesSlide" Target="/ppt/notesSlides/notesSlide11.xml" Id="Rd2ceec005a00486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program">
            <a:extLst xmlns:a="http://schemas.openxmlformats.org/drawingml/2006/main">
              <a:ext uri="{FF2B5EF4-FFF2-40B4-BE49-F238E27FC236}">
                <a16:creationId xmlns:a16="http://schemas.microsoft.com/office/drawing/2014/main" id="{A538286F-9E0F-4245-8DF3-952D63639D0F}"/>
              </a:ext>
            </a:extLst>
          </p:cNvPr>
          <p:cNvSpPr>
            <a:spLocks xmlns:a="http://schemas.openxmlformats.org/drawingml/2006/main" noGrp="1"/>
          </p:cNvSpPr>
          <p:nvPr/>
        </p:nvSpPr>
        <p:spPr>
          <a:xfrm xmlns:a="http://schemas.openxmlformats.org/drawingml/2006/main">
            <a:off x="390525" y="390525"/>
            <a:ext cx="6191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ERDOS INSTITUTE · SUMMER 2026</a:t>
            </a:r>
          </a:p>
        </p:txBody>
      </p:sp>
      <p:sp>
        <p:nvSpPr>
          <p:cNvPr id="2" name="authors">
            <a:extLst xmlns:a="http://schemas.openxmlformats.org/drawingml/2006/main">
              <a:ext uri="{FF2B5EF4-FFF2-40B4-BE49-F238E27FC236}">
                <a16:creationId xmlns:a16="http://schemas.microsoft.com/office/drawing/2014/main" id="{1BE78251-A7E7-4081-8856-9C13210BCB29}"/>
              </a:ext>
            </a:extLst>
          </p:cNvPr>
          <p:cNvSpPr>
            <a:spLocks xmlns:a="http://schemas.openxmlformats.org/drawingml/2006/main" noGrp="1"/>
          </p:cNvSpPr>
          <p:nvPr/>
        </p:nvSpPr>
        <p:spPr>
          <a:xfrm xmlns:a="http://schemas.openxmlformats.org/drawingml/2006/main">
            <a:off x="7886700" y="390525"/>
            <a:ext cx="3905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Yue Wu · Freda Zhang</a:t>
            </a:r>
          </a:p>
        </p:txBody>
      </p:sp>
      <p:sp>
        <p:nvSpPr>
          <p:cNvPr id="3" name="cover-title">
            <a:extLst xmlns:a="http://schemas.openxmlformats.org/drawingml/2006/main">
              <a:ext uri="{FF2B5EF4-FFF2-40B4-BE49-F238E27FC236}">
                <a16:creationId xmlns:a16="http://schemas.microsoft.com/office/drawing/2014/main" id="{EB8E9C6A-4983-40F8-8748-C41B9AFB6B6E}"/>
              </a:ext>
            </a:extLst>
          </p:cNvPr>
          <p:cNvSpPr>
            <a:spLocks xmlns:a="http://schemas.openxmlformats.org/drawingml/2006/main" noGrp="1"/>
          </p:cNvSpPr>
          <p:nvPr/>
        </p:nvSpPr>
        <p:spPr>
          <a:xfrm xmlns:a="http://schemas.openxmlformats.org/drawingml/2006/main">
            <a:off x="390525" y="2381250"/>
            <a:ext cx="1028700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800" b="1">
                <a:solidFill>
                  <a:srgbClr val="000000"/>
                </a:solidFill>
                <a:latin typeface="Helvetica Neue"/>
                <a:ea typeface="Helvetica Neue"/>
                <a:cs typeface="Helvetica Neue"/>
              </a:defRPr>
            </a:pPr>
            <a:r>
              <a:t>Can market signals improve delta hedging?</a:t>
            </a:r>
          </a:p>
        </p:txBody>
      </p:sp>
      <p:sp>
        <p:nvSpPr>
          <p:cNvPr id="4" name="cover-subtitle">
            <a:extLst xmlns:a="http://schemas.openxmlformats.org/drawingml/2006/main">
              <a:ext uri="{FF2B5EF4-FFF2-40B4-BE49-F238E27FC236}">
                <a16:creationId xmlns:a16="http://schemas.microsoft.com/office/drawing/2014/main" id="{E0AFB9D9-4A9C-49A3-8A1B-7551720255C2}"/>
              </a:ext>
            </a:extLst>
          </p:cNvPr>
          <p:cNvSpPr>
            <a:spLocks xmlns:a="http://schemas.openxmlformats.org/drawingml/2006/main" noGrp="1"/>
          </p:cNvSpPr>
          <p:nvPr/>
        </p:nvSpPr>
        <p:spPr>
          <a:xfrm xmlns:a="http://schemas.openxmlformats.org/drawingml/2006/main">
            <a:off x="390525" y="5286375"/>
            <a:ext cx="8572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444444"/>
                </a:solidFill>
                <a:latin typeface="Helvetica Neue"/>
                <a:ea typeface="Helvetica Neue"/>
                <a:cs typeface="Helvetica Neue"/>
              </a:defRPr>
            </a:pPr>
            <a:r>
              <a:t>A controlled replication experiment on historical SPY paths</a:t>
            </a:r>
          </a:p>
        </p:txBody>
      </p:sp>
    </p:spTree>
    <p:extLst>
      <p:ext uri="{BB962C8B-B14F-4D97-AF65-F5344CB8AC3E}">
        <p14:creationId xmlns:p14="http://schemas.microsoft.com/office/powerpoint/2010/main" val="1337540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A0D627E-A38B-4C86-9414-F0348EF99F3D}"/>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We test hedge inputs—not historical option execution</a:t>
            </a:r>
          </a:p>
        </p:txBody>
      </p:sp>
      <p:sp>
        <p:nvSpPr>
          <p:cNvPr id="2" name="slide-number">
            <a:extLst xmlns:a="http://schemas.openxmlformats.org/drawingml/2006/main">
              <a:ext uri="{FF2B5EF4-FFF2-40B4-BE49-F238E27FC236}">
                <a16:creationId xmlns:a16="http://schemas.microsoft.com/office/drawing/2014/main" id="{EADC4429-FC27-4041-BD8C-D49A130776DF}"/>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3" name="question">
            <a:extLst xmlns:a="http://schemas.openxmlformats.org/drawingml/2006/main">
              <a:ext uri="{FF2B5EF4-FFF2-40B4-BE49-F238E27FC236}">
                <a16:creationId xmlns:a16="http://schemas.microsoft.com/office/drawing/2014/main" id="{D06E39DB-97A2-464C-AD65-0C7E1C1D6463}"/>
              </a:ext>
            </a:extLst>
          </p:cNvPr>
          <p:cNvSpPr>
            <a:spLocks xmlns:a="http://schemas.openxmlformats.org/drawingml/2006/main" noGrp="1"/>
          </p:cNvSpPr>
          <p:nvPr/>
        </p:nvSpPr>
        <p:spPr>
          <a:xfrm xmlns:a="http://schemas.openxmlformats.org/drawingml/2006/main">
            <a:off x="400050" y="1619250"/>
            <a:ext cx="5334000" cy="2381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000000"/>
                </a:solidFill>
                <a:latin typeface="Helvetica Neue"/>
                <a:ea typeface="Helvetica Neue"/>
                <a:cs typeface="Helvetica Neue"/>
              </a:defRPr>
            </a:pPr>
            <a:r>
              <a:t>Can public, point-in-time signals reduce terminal replication error versus fixed-volatility Black–Scholes?</a:t>
            </a:r>
          </a:p>
        </p:txBody>
      </p:sp>
      <p:sp>
        <p:nvSpPr>
          <p:cNvPr id="4" name="scope-panel">
            <a:extLst xmlns:a="http://schemas.openxmlformats.org/drawingml/2006/main">
              <a:ext uri="{FF2B5EF4-FFF2-40B4-BE49-F238E27FC236}">
                <a16:creationId xmlns:a16="http://schemas.microsoft.com/office/drawing/2014/main" id="{CB7D76A3-150A-42A0-BB8D-4BD29ABF465D}"/>
              </a:ext>
            </a:extLst>
          </p:cNvPr>
          <p:cNvSpPr>
            <a:spLocks xmlns:a="http://schemas.openxmlformats.org/drawingml/2006/main" noGrp="1"/>
          </p:cNvSpPr>
          <p:nvPr/>
        </p:nvSpPr>
        <p:spPr>
          <a:xfrm xmlns:a="http://schemas.openxmlformats.org/drawingml/2006/main">
            <a:off x="6267450" y="1428750"/>
            <a:ext cx="5524500" cy="4095750"/>
          </a:xfrm>
          <a:prstGeom xmlns:a="http://schemas.openxmlformats.org/drawingml/2006/main" prst="roundRect">
            <a:avLst>
              <a:gd name="adj" fmla="val 1860"/>
            </a:avLst>
          </a:prstGeom>
          <a:solidFill xmlns:a="http://schemas.openxmlformats.org/drawingml/2006/main">
            <a:srgbClr val="EAF5FB"/>
          </a:solidFill>
          <a:ln xmlns:a="http://schemas.openxmlformats.org/drawingml/2006/main" w="0">
            <a:solidFill>
              <a:srgbClr val="EAF5FB"/>
            </a:solidFill>
            <a:prstDash val="solid"/>
          </a:ln>
        </p:spPr>
      </p:sp>
      <p:sp>
        <p:nvSpPr>
          <p:cNvPr id="5" name="observed-label">
            <a:extLst xmlns:a="http://schemas.openxmlformats.org/drawingml/2006/main">
              <a:ext uri="{FF2B5EF4-FFF2-40B4-BE49-F238E27FC236}">
                <a16:creationId xmlns:a16="http://schemas.microsoft.com/office/drawing/2014/main" id="{E13B163B-94D2-4183-BFED-244AA5F991A3}"/>
              </a:ext>
            </a:extLst>
          </p:cNvPr>
          <p:cNvSpPr>
            <a:spLocks xmlns:a="http://schemas.openxmlformats.org/drawingml/2006/main" noGrp="1"/>
          </p:cNvSpPr>
          <p:nvPr/>
        </p:nvSpPr>
        <p:spPr>
          <a:xfrm xmlns:a="http://schemas.openxmlformats.org/drawingml/2006/main">
            <a:off x="6667500" y="1809750"/>
            <a:ext cx="1714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OBSERVED</a:t>
            </a:r>
          </a:p>
        </p:txBody>
      </p:sp>
      <p:sp>
        <p:nvSpPr>
          <p:cNvPr id="6" name="observed">
            <a:extLst xmlns:a="http://schemas.openxmlformats.org/drawingml/2006/main">
              <a:ext uri="{FF2B5EF4-FFF2-40B4-BE49-F238E27FC236}">
                <a16:creationId xmlns:a16="http://schemas.microsoft.com/office/drawing/2014/main" id="{549C9BB6-6A34-4A8F-83B7-D182B3D5C20C}"/>
              </a:ext>
            </a:extLst>
          </p:cNvPr>
          <p:cNvSpPr>
            <a:spLocks xmlns:a="http://schemas.openxmlformats.org/drawingml/2006/main" noGrp="1"/>
          </p:cNvSpPr>
          <p:nvPr/>
        </p:nvSpPr>
        <p:spPr>
          <a:xfrm xmlns:a="http://schemas.openxmlformats.org/drawingml/2006/main">
            <a:off x="6667500" y="2238375"/>
            <a:ext cx="466725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SPY prices · VIX · volume · rates · sector returns</a:t>
            </a:r>
          </a:p>
        </p:txBody>
      </p:sp>
      <p:sp>
        <p:nvSpPr>
          <p:cNvPr id="7" name="controlled-label">
            <a:extLst xmlns:a="http://schemas.openxmlformats.org/drawingml/2006/main">
              <a:ext uri="{FF2B5EF4-FFF2-40B4-BE49-F238E27FC236}">
                <a16:creationId xmlns:a16="http://schemas.microsoft.com/office/drawing/2014/main" id="{9705B4A3-A5D2-43D0-BBEC-DAA95BE12F49}"/>
              </a:ext>
            </a:extLst>
          </p:cNvPr>
          <p:cNvSpPr>
            <a:spLocks xmlns:a="http://schemas.openxmlformats.org/drawingml/2006/main" noGrp="1"/>
          </p:cNvSpPr>
          <p:nvPr/>
        </p:nvSpPr>
        <p:spPr>
          <a:xfrm xmlns:a="http://schemas.openxmlformats.org/drawingml/2006/main">
            <a:off x="6667500" y="3476625"/>
            <a:ext cx="1714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CONTROLLED</a:t>
            </a:r>
          </a:p>
        </p:txBody>
      </p:sp>
      <p:sp>
        <p:nvSpPr>
          <p:cNvPr id="8" name="controlled">
            <a:extLst xmlns:a="http://schemas.openxmlformats.org/drawingml/2006/main">
              <a:ext uri="{FF2B5EF4-FFF2-40B4-BE49-F238E27FC236}">
                <a16:creationId xmlns:a16="http://schemas.microsoft.com/office/drawing/2014/main" id="{D834F244-30C1-4F5B-A068-1C33216D4D24}"/>
              </a:ext>
            </a:extLst>
          </p:cNvPr>
          <p:cNvSpPr>
            <a:spLocks xmlns:a="http://schemas.openxmlformats.org/drawingml/2006/main" noGrp="1"/>
          </p:cNvSpPr>
          <p:nvPr/>
        </p:nvSpPr>
        <p:spPr>
          <a:xfrm xmlns:a="http://schemas.openxmlformats.org/drawingml/2006/main">
            <a:off x="6667500" y="3905250"/>
            <a:ext cx="466725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European-call payoff, maturity, moneyness, premium convention, and costs</a:t>
            </a:r>
          </a:p>
        </p:txBody>
      </p:sp>
      <p:sp>
        <p:nvSpPr>
          <p:cNvPr id="9" name="scope-foot">
            <a:extLst xmlns:a="http://schemas.openxmlformats.org/drawingml/2006/main">
              <a:ext uri="{FF2B5EF4-FFF2-40B4-BE49-F238E27FC236}">
                <a16:creationId xmlns:a16="http://schemas.microsoft.com/office/drawing/2014/main" id="{5C86A972-FEE0-4558-BADE-859E80910ECB}"/>
              </a:ext>
            </a:extLst>
          </p:cNvPr>
          <p:cNvSpPr>
            <a:spLocks xmlns:a="http://schemas.openxmlformats.org/drawingml/2006/main" noGrp="1"/>
          </p:cNvSpPr>
          <p:nvPr/>
        </p:nvSpPr>
        <p:spPr>
          <a:xfrm xmlns:a="http://schemas.openxmlformats.org/drawingml/2006/main">
            <a:off x="400050" y="5095875"/>
            <a:ext cx="5334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555"/>
                </a:solidFill>
                <a:latin typeface="Helvetica Neue"/>
                <a:ea typeface="Helvetica Neue"/>
                <a:cs typeface="Helvetica Neue"/>
              </a:defRPr>
            </a:pPr>
            <a:r>
              <a:t>No historical option bids, asks, or contract-level implied volatility</a:t>
            </a:r>
          </a:p>
        </p:txBody>
      </p:sp>
    </p:spTree>
    <p:extLst>
      <p:ext uri="{BB962C8B-B14F-4D97-AF65-F5344CB8AC3E}">
        <p14:creationId xmlns:p14="http://schemas.microsoft.com/office/powerpoint/2010/main" val="15219832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12D4C85F-95FE-44E0-B031-C4DE89F5893D}"/>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All four strategies use the same delta-hedging engine</a:t>
            </a:r>
          </a:p>
        </p:txBody>
      </p:sp>
      <p:sp>
        <p:nvSpPr>
          <p:cNvPr id="2" name="slide-number">
            <a:extLst xmlns:a="http://schemas.openxmlformats.org/drawingml/2006/main">
              <a:ext uri="{FF2B5EF4-FFF2-40B4-BE49-F238E27FC236}">
                <a16:creationId xmlns:a16="http://schemas.microsoft.com/office/drawing/2014/main" id="{B6CA8F00-FB21-4926-801E-A0953C6E3B56}"/>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3" name="strategy-0">
            <a:extLst xmlns:a="http://schemas.openxmlformats.org/drawingml/2006/main">
              <a:ext uri="{FF2B5EF4-FFF2-40B4-BE49-F238E27FC236}">
                <a16:creationId xmlns:a16="http://schemas.microsoft.com/office/drawing/2014/main" id="{D10EBC0A-AD17-4208-9A0E-65F1BF86ED8B}"/>
              </a:ext>
            </a:extLst>
          </p:cNvPr>
          <p:cNvSpPr>
            <a:spLocks xmlns:a="http://schemas.openxmlformats.org/drawingml/2006/main" noGrp="1"/>
          </p:cNvSpPr>
          <p:nvPr/>
        </p:nvSpPr>
        <p:spPr>
          <a:xfrm xmlns:a="http://schemas.openxmlformats.org/drawingml/2006/main">
            <a:off x="400050" y="1666875"/>
            <a:ext cx="2571750" cy="3381375"/>
          </a:xfrm>
          <a:prstGeom xmlns:a="http://schemas.openxmlformats.org/drawingml/2006/main" prst="roundRect">
            <a:avLst>
              <a:gd name="adj" fmla="val 2963"/>
            </a:avLst>
          </a:prstGeom>
          <a:solidFill xmlns:a="http://schemas.openxmlformats.org/drawingml/2006/main">
            <a:srgbClr val="F2F2F2"/>
          </a:solidFill>
          <a:ln xmlns:a="http://schemas.openxmlformats.org/drawingml/2006/main" w="0">
            <a:solidFill>
              <a:srgbClr val="F2F2F2"/>
            </a:solidFill>
            <a:prstDash val="solid"/>
          </a:ln>
        </p:spPr>
      </p:sp>
      <p:sp>
        <p:nvSpPr>
          <p:cNvPr id="4" name="strategy-name-0">
            <a:extLst xmlns:a="http://schemas.openxmlformats.org/drawingml/2006/main">
              <a:ext uri="{FF2B5EF4-FFF2-40B4-BE49-F238E27FC236}">
                <a16:creationId xmlns:a16="http://schemas.microsoft.com/office/drawing/2014/main" id="{ECDFB99D-FB15-44EC-AFF7-D15524D4C47F}"/>
              </a:ext>
            </a:extLst>
          </p:cNvPr>
          <p:cNvSpPr>
            <a:spLocks xmlns:a="http://schemas.openxmlformats.org/drawingml/2006/main" noGrp="1"/>
          </p:cNvSpPr>
          <p:nvPr/>
        </p:nvSpPr>
        <p:spPr>
          <a:xfrm xmlns:a="http://schemas.openxmlformats.org/drawingml/2006/main">
            <a:off x="628650" y="1952625"/>
            <a:ext cx="2095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FV-BS</a:t>
            </a:r>
          </a:p>
        </p:txBody>
      </p:sp>
      <p:sp>
        <p:nvSpPr>
          <p:cNvPr id="5" name="strategy-input-0">
            <a:extLst xmlns:a="http://schemas.openxmlformats.org/drawingml/2006/main">
              <a:ext uri="{FF2B5EF4-FFF2-40B4-BE49-F238E27FC236}">
                <a16:creationId xmlns:a16="http://schemas.microsoft.com/office/drawing/2014/main" id="{BCCED199-97BF-43D5-B6C6-3DFFF83C42BA}"/>
              </a:ext>
            </a:extLst>
          </p:cNvPr>
          <p:cNvSpPr>
            <a:spLocks xmlns:a="http://schemas.openxmlformats.org/drawingml/2006/main" noGrp="1"/>
          </p:cNvSpPr>
          <p:nvPr/>
        </p:nvSpPr>
        <p:spPr>
          <a:xfrm xmlns:a="http://schemas.openxmlformats.org/drawingml/2006/main">
            <a:off x="628650" y="2619375"/>
            <a:ext cx="209550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21-day realized volatility fixed at contract start</a:t>
            </a:r>
          </a:p>
        </p:txBody>
      </p:sp>
      <p:sp>
        <p:nvSpPr>
          <p:cNvPr id="6" name="strategy-purpose-0">
            <a:extLst xmlns:a="http://schemas.openxmlformats.org/drawingml/2006/main">
              <a:ext uri="{FF2B5EF4-FFF2-40B4-BE49-F238E27FC236}">
                <a16:creationId xmlns:a16="http://schemas.microsoft.com/office/drawing/2014/main" id="{38CA13B4-CE3C-4002-8ECF-EA29B1ACE85E}"/>
              </a:ext>
            </a:extLst>
          </p:cNvPr>
          <p:cNvSpPr>
            <a:spLocks xmlns:a="http://schemas.openxmlformats.org/drawingml/2006/main" noGrp="1"/>
          </p:cNvSpPr>
          <p:nvPr/>
        </p:nvSpPr>
        <p:spPr>
          <a:xfrm xmlns:a="http://schemas.openxmlformats.org/drawingml/2006/main">
            <a:off x="628650" y="4238625"/>
            <a:ext cx="2095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55555"/>
                </a:solidFill>
                <a:latin typeface="Helvetica Neue"/>
                <a:ea typeface="Helvetica Neue"/>
                <a:cs typeface="Helvetica Neue"/>
              </a:defRPr>
            </a:pPr>
            <a:r>
              <a:t>Simple benchmark</a:t>
            </a:r>
          </a:p>
        </p:txBody>
      </p:sp>
      <p:sp>
        <p:nvSpPr>
          <p:cNvPr id="7" name="strategy-1">
            <a:extLst xmlns:a="http://schemas.openxmlformats.org/drawingml/2006/main">
              <a:ext uri="{FF2B5EF4-FFF2-40B4-BE49-F238E27FC236}">
                <a16:creationId xmlns:a16="http://schemas.microsoft.com/office/drawing/2014/main" id="{58DE689C-E82D-438C-A115-9862C8707355}"/>
              </a:ext>
            </a:extLst>
          </p:cNvPr>
          <p:cNvSpPr>
            <a:spLocks xmlns:a="http://schemas.openxmlformats.org/drawingml/2006/main" noGrp="1"/>
          </p:cNvSpPr>
          <p:nvPr/>
        </p:nvSpPr>
        <p:spPr>
          <a:xfrm xmlns:a="http://schemas.openxmlformats.org/drawingml/2006/main">
            <a:off x="3267075" y="1666875"/>
            <a:ext cx="2571750" cy="3381375"/>
          </a:xfrm>
          <a:prstGeom xmlns:a="http://schemas.openxmlformats.org/drawingml/2006/main" prst="roundRect">
            <a:avLst>
              <a:gd name="adj" fmla="val 2963"/>
            </a:avLst>
          </a:prstGeom>
          <a:solidFill xmlns:a="http://schemas.openxmlformats.org/drawingml/2006/main">
            <a:srgbClr val="F2F2F2"/>
          </a:solidFill>
          <a:ln xmlns:a="http://schemas.openxmlformats.org/drawingml/2006/main" w="0">
            <a:solidFill>
              <a:srgbClr val="F2F2F2"/>
            </a:solidFill>
            <a:prstDash val="solid"/>
          </a:ln>
        </p:spPr>
      </p:sp>
      <p:sp>
        <p:nvSpPr>
          <p:cNvPr id="8" name="strategy-name-1">
            <a:extLst xmlns:a="http://schemas.openxmlformats.org/drawingml/2006/main">
              <a:ext uri="{FF2B5EF4-FFF2-40B4-BE49-F238E27FC236}">
                <a16:creationId xmlns:a16="http://schemas.microsoft.com/office/drawing/2014/main" id="{34B264D7-1318-4674-8471-E4C4878F5626}"/>
              </a:ext>
            </a:extLst>
          </p:cNvPr>
          <p:cNvSpPr>
            <a:spLocks xmlns:a="http://schemas.openxmlformats.org/drawingml/2006/main" noGrp="1"/>
          </p:cNvSpPr>
          <p:nvPr/>
        </p:nvSpPr>
        <p:spPr>
          <a:xfrm xmlns:a="http://schemas.openxmlformats.org/drawingml/2006/main">
            <a:off x="3495675" y="1952625"/>
            <a:ext cx="2095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ROLLING-BS</a:t>
            </a:r>
          </a:p>
        </p:txBody>
      </p:sp>
      <p:sp>
        <p:nvSpPr>
          <p:cNvPr id="9" name="strategy-input-1">
            <a:extLst xmlns:a="http://schemas.openxmlformats.org/drawingml/2006/main">
              <a:ext uri="{FF2B5EF4-FFF2-40B4-BE49-F238E27FC236}">
                <a16:creationId xmlns:a16="http://schemas.microsoft.com/office/drawing/2014/main" id="{8BB7993F-F8E8-4918-BC1C-50DE57A89DDD}"/>
              </a:ext>
            </a:extLst>
          </p:cNvPr>
          <p:cNvSpPr>
            <a:spLocks xmlns:a="http://schemas.openxmlformats.org/drawingml/2006/main" noGrp="1"/>
          </p:cNvSpPr>
          <p:nvPr/>
        </p:nvSpPr>
        <p:spPr>
          <a:xfrm xmlns:a="http://schemas.openxmlformats.org/drawingml/2006/main">
            <a:off x="3495675" y="2619375"/>
            <a:ext cx="209550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21-day realized volatility updated every hedge date</a:t>
            </a:r>
          </a:p>
        </p:txBody>
      </p:sp>
      <p:sp>
        <p:nvSpPr>
          <p:cNvPr id="10" name="strategy-purpose-1">
            <a:extLst xmlns:a="http://schemas.openxmlformats.org/drawingml/2006/main">
              <a:ext uri="{FF2B5EF4-FFF2-40B4-BE49-F238E27FC236}">
                <a16:creationId xmlns:a16="http://schemas.microsoft.com/office/drawing/2014/main" id="{5D44CB0A-3A4A-4D34-80DC-2E1AE2C89EF7}"/>
              </a:ext>
            </a:extLst>
          </p:cNvPr>
          <p:cNvSpPr>
            <a:spLocks xmlns:a="http://schemas.openxmlformats.org/drawingml/2006/main" noGrp="1"/>
          </p:cNvSpPr>
          <p:nvPr/>
        </p:nvSpPr>
        <p:spPr>
          <a:xfrm xmlns:a="http://schemas.openxmlformats.org/drawingml/2006/main">
            <a:off x="3495675" y="4238625"/>
            <a:ext cx="2095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55555"/>
                </a:solidFill>
                <a:latin typeface="Helvetica Neue"/>
                <a:ea typeface="Helvetica Neue"/>
                <a:cs typeface="Helvetica Neue"/>
              </a:defRPr>
            </a:pPr>
            <a:r>
              <a:t>Uses recent price information</a:t>
            </a:r>
          </a:p>
        </p:txBody>
      </p:sp>
      <p:sp>
        <p:nvSpPr>
          <p:cNvPr id="11" name="strategy-2">
            <a:extLst xmlns:a="http://schemas.openxmlformats.org/drawingml/2006/main">
              <a:ext uri="{FF2B5EF4-FFF2-40B4-BE49-F238E27FC236}">
                <a16:creationId xmlns:a16="http://schemas.microsoft.com/office/drawing/2014/main" id="{11048FB6-D3B7-46C6-9293-BFF7B762A3F5}"/>
              </a:ext>
            </a:extLst>
          </p:cNvPr>
          <p:cNvSpPr>
            <a:spLocks xmlns:a="http://schemas.openxmlformats.org/drawingml/2006/main" noGrp="1"/>
          </p:cNvSpPr>
          <p:nvPr/>
        </p:nvSpPr>
        <p:spPr>
          <a:xfrm xmlns:a="http://schemas.openxmlformats.org/drawingml/2006/main">
            <a:off x="6134100" y="1666875"/>
            <a:ext cx="2571750" cy="3381375"/>
          </a:xfrm>
          <a:prstGeom xmlns:a="http://schemas.openxmlformats.org/drawingml/2006/main" prst="roundRect">
            <a:avLst>
              <a:gd name="adj" fmla="val 2963"/>
            </a:avLst>
          </a:prstGeom>
          <a:solidFill xmlns:a="http://schemas.openxmlformats.org/drawingml/2006/main">
            <a:srgbClr val="EAF5FB"/>
          </a:solidFill>
          <a:ln xmlns:a="http://schemas.openxmlformats.org/drawingml/2006/main" w="0">
            <a:solidFill>
              <a:srgbClr val="EAF5FB"/>
            </a:solidFill>
            <a:prstDash val="solid"/>
          </a:ln>
        </p:spPr>
      </p:sp>
      <p:sp>
        <p:nvSpPr>
          <p:cNvPr id="12" name="strategy-name-2">
            <a:extLst xmlns:a="http://schemas.openxmlformats.org/drawingml/2006/main">
              <a:ext uri="{FF2B5EF4-FFF2-40B4-BE49-F238E27FC236}">
                <a16:creationId xmlns:a16="http://schemas.microsoft.com/office/drawing/2014/main" id="{7158065E-5F2B-4F38-9E65-7F3D4BC9411A}"/>
              </a:ext>
            </a:extLst>
          </p:cNvPr>
          <p:cNvSpPr>
            <a:spLocks xmlns:a="http://schemas.openxmlformats.org/drawingml/2006/main" noGrp="1"/>
          </p:cNvSpPr>
          <p:nvPr/>
        </p:nvSpPr>
        <p:spPr>
          <a:xfrm xmlns:a="http://schemas.openxmlformats.org/drawingml/2006/main">
            <a:off x="6362700" y="1952625"/>
            <a:ext cx="2095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t>VIX-BS</a:t>
            </a:r>
          </a:p>
        </p:txBody>
      </p:sp>
      <p:sp>
        <p:nvSpPr>
          <p:cNvPr id="13" name="strategy-input-2">
            <a:extLst xmlns:a="http://schemas.openxmlformats.org/drawingml/2006/main">
              <a:ext uri="{FF2B5EF4-FFF2-40B4-BE49-F238E27FC236}">
                <a16:creationId xmlns:a16="http://schemas.microsoft.com/office/drawing/2014/main" id="{C23CF966-A95A-45D6-B64B-4981AA0FE47E}"/>
              </a:ext>
            </a:extLst>
          </p:cNvPr>
          <p:cNvSpPr>
            <a:spLocks xmlns:a="http://schemas.openxmlformats.org/drawingml/2006/main" noGrp="1"/>
          </p:cNvSpPr>
          <p:nvPr/>
        </p:nvSpPr>
        <p:spPr>
          <a:xfrm xmlns:a="http://schemas.openxmlformats.org/drawingml/2006/main">
            <a:off x="6362700" y="2619375"/>
            <a:ext cx="209550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Daily VIX as an option-market volatility proxy</a:t>
            </a:r>
          </a:p>
        </p:txBody>
      </p:sp>
      <p:sp>
        <p:nvSpPr>
          <p:cNvPr id="14" name="strategy-purpose-2">
            <a:extLst xmlns:a="http://schemas.openxmlformats.org/drawingml/2006/main">
              <a:ext uri="{FF2B5EF4-FFF2-40B4-BE49-F238E27FC236}">
                <a16:creationId xmlns:a16="http://schemas.microsoft.com/office/drawing/2014/main" id="{3FD980A5-6C11-44CC-BE83-11DD87A08AF8}"/>
              </a:ext>
            </a:extLst>
          </p:cNvPr>
          <p:cNvSpPr>
            <a:spLocks xmlns:a="http://schemas.openxmlformats.org/drawingml/2006/main" noGrp="1"/>
          </p:cNvSpPr>
          <p:nvPr/>
        </p:nvSpPr>
        <p:spPr>
          <a:xfrm xmlns:a="http://schemas.openxmlformats.org/drawingml/2006/main">
            <a:off x="6362700" y="4238625"/>
            <a:ext cx="2095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55555"/>
                </a:solidFill>
                <a:latin typeface="Helvetica Neue"/>
                <a:ea typeface="Helvetica Neue"/>
                <a:cs typeface="Helvetica Neue"/>
              </a:defRPr>
            </a:pPr>
            <a:r>
              <a:t>Adds forward-looking market information</a:t>
            </a:r>
          </a:p>
        </p:txBody>
      </p:sp>
      <p:sp>
        <p:nvSpPr>
          <p:cNvPr id="15" name="strategy-3">
            <a:extLst xmlns:a="http://schemas.openxmlformats.org/drawingml/2006/main">
              <a:ext uri="{FF2B5EF4-FFF2-40B4-BE49-F238E27FC236}">
                <a16:creationId xmlns:a16="http://schemas.microsoft.com/office/drawing/2014/main" id="{723F8D02-5C4D-424E-801B-D0032B5B4FFA}"/>
              </a:ext>
            </a:extLst>
          </p:cNvPr>
          <p:cNvSpPr>
            <a:spLocks xmlns:a="http://schemas.openxmlformats.org/drawingml/2006/main" noGrp="1"/>
          </p:cNvSpPr>
          <p:nvPr/>
        </p:nvSpPr>
        <p:spPr>
          <a:xfrm xmlns:a="http://schemas.openxmlformats.org/drawingml/2006/main">
            <a:off x="9001125" y="1666875"/>
            <a:ext cx="2571750" cy="3381375"/>
          </a:xfrm>
          <a:prstGeom xmlns:a="http://schemas.openxmlformats.org/drawingml/2006/main" prst="roundRect">
            <a:avLst>
              <a:gd name="adj" fmla="val 2963"/>
            </a:avLst>
          </a:prstGeom>
          <a:solidFill xmlns:a="http://schemas.openxmlformats.org/drawingml/2006/main">
            <a:srgbClr val="F2F2F2"/>
          </a:solidFill>
          <a:ln xmlns:a="http://schemas.openxmlformats.org/drawingml/2006/main" w="0">
            <a:solidFill>
              <a:srgbClr val="F2F2F2"/>
            </a:solidFill>
            <a:prstDash val="solid"/>
          </a:ln>
        </p:spPr>
      </p:sp>
      <p:sp>
        <p:nvSpPr>
          <p:cNvPr id="16" name="strategy-name-3">
            <a:extLst xmlns:a="http://schemas.openxmlformats.org/drawingml/2006/main">
              <a:ext uri="{FF2B5EF4-FFF2-40B4-BE49-F238E27FC236}">
                <a16:creationId xmlns:a16="http://schemas.microsoft.com/office/drawing/2014/main" id="{C2A47E22-9468-4644-BA10-6A92D19AEBCF}"/>
              </a:ext>
            </a:extLst>
          </p:cNvPr>
          <p:cNvSpPr>
            <a:spLocks xmlns:a="http://schemas.openxmlformats.org/drawingml/2006/main" noGrp="1"/>
          </p:cNvSpPr>
          <p:nvPr/>
        </p:nvSpPr>
        <p:spPr>
          <a:xfrm xmlns:a="http://schemas.openxmlformats.org/drawingml/2006/main">
            <a:off x="9229725" y="1952625"/>
            <a:ext cx="2095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MSA-DELTA</a:t>
            </a:r>
          </a:p>
        </p:txBody>
      </p:sp>
      <p:sp>
        <p:nvSpPr>
          <p:cNvPr id="17" name="strategy-input-3">
            <a:extLst xmlns:a="http://schemas.openxmlformats.org/drawingml/2006/main">
              <a:ext uri="{FF2B5EF4-FFF2-40B4-BE49-F238E27FC236}">
                <a16:creationId xmlns:a16="http://schemas.microsoft.com/office/drawing/2014/main" id="{A784960F-0D35-487E-9818-63B943547509}"/>
              </a:ext>
            </a:extLst>
          </p:cNvPr>
          <p:cNvSpPr>
            <a:spLocks xmlns:a="http://schemas.openxmlformats.org/drawingml/2006/main" noGrp="1"/>
          </p:cNvSpPr>
          <p:nvPr/>
        </p:nvSpPr>
        <p:spPr>
          <a:xfrm xmlns:a="http://schemas.openxmlformats.org/drawingml/2006/main">
            <a:off x="9229725" y="2619375"/>
            <a:ext cx="2095500"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Rolling volatility × risk-state multiplier</a:t>
            </a:r>
          </a:p>
        </p:txBody>
      </p:sp>
      <p:sp>
        <p:nvSpPr>
          <p:cNvPr id="18" name="strategy-purpose-3">
            <a:extLst xmlns:a="http://schemas.openxmlformats.org/drawingml/2006/main">
              <a:ext uri="{FF2B5EF4-FFF2-40B4-BE49-F238E27FC236}">
                <a16:creationId xmlns:a16="http://schemas.microsoft.com/office/drawing/2014/main" id="{AE3B4E31-0F7B-4941-BBAE-F4EBE004712E}"/>
              </a:ext>
            </a:extLst>
          </p:cNvPr>
          <p:cNvSpPr>
            <a:spLocks xmlns:a="http://schemas.openxmlformats.org/drawingml/2006/main" noGrp="1"/>
          </p:cNvSpPr>
          <p:nvPr/>
        </p:nvSpPr>
        <p:spPr>
          <a:xfrm xmlns:a="http://schemas.openxmlformats.org/drawingml/2006/main">
            <a:off x="9229725" y="4238625"/>
            <a:ext cx="2095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55555"/>
                </a:solidFill>
                <a:latin typeface="Helvetica Neue"/>
                <a:ea typeface="Helvetica Neue"/>
                <a:cs typeface="Helvetica Neue"/>
              </a:defRPr>
            </a:pPr>
            <a:r>
              <a:t>Combines seven market signals</a:t>
            </a:r>
          </a:p>
        </p:txBody>
      </p:sp>
      <p:sp>
        <p:nvSpPr>
          <p:cNvPr id="19" name="common-rule">
            <a:extLst xmlns:a="http://schemas.openxmlformats.org/drawingml/2006/main">
              <a:ext uri="{FF2B5EF4-FFF2-40B4-BE49-F238E27FC236}">
                <a16:creationId xmlns:a16="http://schemas.microsoft.com/office/drawing/2014/main" id="{C32456DB-FD7B-4EA8-98CA-C4E2E57F7805}"/>
              </a:ext>
            </a:extLst>
          </p:cNvPr>
          <p:cNvSpPr>
            <a:spLocks xmlns:a="http://schemas.openxmlformats.org/drawingml/2006/main" noGrp="1"/>
          </p:cNvSpPr>
          <p:nvPr/>
        </p:nvSpPr>
        <p:spPr>
          <a:xfrm xmlns:a="http://schemas.openxmlformats.org/drawingml/2006/main">
            <a:off x="400050" y="5572125"/>
            <a:ext cx="106680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Common premium · daily rebalancing · identical payoff · identical transaction costs</a:t>
            </a:r>
          </a:p>
        </p:txBody>
      </p:sp>
    </p:spTree>
    <p:extLst>
      <p:ext uri="{BB962C8B-B14F-4D97-AF65-F5344CB8AC3E}">
        <p14:creationId xmlns:p14="http://schemas.microsoft.com/office/powerpoint/2010/main" val="16527615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9BD3C84-CEBF-4F81-89BA-1B4DBCFA56F8}"/>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MSA-Delta converts seven trailing signals into three risk states</a:t>
            </a:r>
          </a:p>
        </p:txBody>
      </p:sp>
      <p:sp>
        <p:nvSpPr>
          <p:cNvPr id="2" name="slide-number">
            <a:extLst xmlns:a="http://schemas.openxmlformats.org/drawingml/2006/main">
              <a:ext uri="{FF2B5EF4-FFF2-40B4-BE49-F238E27FC236}">
                <a16:creationId xmlns:a16="http://schemas.microsoft.com/office/drawing/2014/main" id="{F442C6FD-4901-4716-8DA3-FCED1B492AEE}"/>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3" name="signal-list-title">
            <a:extLst xmlns:a="http://schemas.openxmlformats.org/drawingml/2006/main">
              <a:ext uri="{FF2B5EF4-FFF2-40B4-BE49-F238E27FC236}">
                <a16:creationId xmlns:a16="http://schemas.microsoft.com/office/drawing/2014/main" id="{21E2B09F-C0FC-4233-B736-1E2F3293EBBC}"/>
              </a:ext>
            </a:extLst>
          </p:cNvPr>
          <p:cNvSpPr>
            <a:spLocks xmlns:a="http://schemas.openxmlformats.org/drawingml/2006/main" noGrp="1"/>
          </p:cNvSpPr>
          <p:nvPr/>
        </p:nvSpPr>
        <p:spPr>
          <a:xfrm xmlns:a="http://schemas.openxmlformats.org/drawingml/2006/main">
            <a:off x="400050" y="1571625"/>
            <a:ext cx="2857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RISK SCORE INPUTS</a:t>
            </a:r>
          </a:p>
        </p:txBody>
      </p:sp>
      <p:sp>
        <p:nvSpPr>
          <p:cNvPr id="4" name="signal-list">
            <a:extLst xmlns:a="http://schemas.openxmlformats.org/drawingml/2006/main">
              <a:ext uri="{FF2B5EF4-FFF2-40B4-BE49-F238E27FC236}">
                <a16:creationId xmlns:a16="http://schemas.microsoft.com/office/drawing/2014/main" id="{E46B59CA-EFA1-4813-B349-1621F027A204}"/>
              </a:ext>
            </a:extLst>
          </p:cNvPr>
          <p:cNvSpPr>
            <a:spLocks xmlns:a="http://schemas.openxmlformats.org/drawingml/2006/main" noGrp="1"/>
          </p:cNvSpPr>
          <p:nvPr/>
        </p:nvSpPr>
        <p:spPr>
          <a:xfrm xmlns:a="http://schemas.openxmlformats.org/drawingml/2006/main">
            <a:off x="400050" y="2047875"/>
            <a:ext cx="4762500" cy="3143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30%  VIX rank
20%  VIX level
20%  realized-volatility acceleration
10%  volume shock
10%  63-day drawdown
  5%  XLK–SPY divergence
  5%  short-rate change</a:t>
            </a:r>
          </a:p>
        </p:txBody>
      </p:sp>
      <p:sp>
        <p:nvSpPr>
          <p:cNvPr id="5" name="state-normal">
            <a:extLst xmlns:a="http://schemas.openxmlformats.org/drawingml/2006/main">
              <a:ext uri="{FF2B5EF4-FFF2-40B4-BE49-F238E27FC236}">
                <a16:creationId xmlns:a16="http://schemas.microsoft.com/office/drawing/2014/main" id="{76E768B6-FED0-458B-B42D-77A729160229}"/>
              </a:ext>
            </a:extLst>
          </p:cNvPr>
          <p:cNvSpPr>
            <a:spLocks xmlns:a="http://schemas.openxmlformats.org/drawingml/2006/main" noGrp="1"/>
          </p:cNvSpPr>
          <p:nvPr/>
        </p:nvSpPr>
        <p:spPr>
          <a:xfrm xmlns:a="http://schemas.openxmlformats.org/drawingml/2006/main">
            <a:off x="5715000" y="1619250"/>
            <a:ext cx="5334000" cy="1000125"/>
          </a:xfrm>
          <a:prstGeom xmlns:a="http://schemas.openxmlformats.org/drawingml/2006/main" prst="roundRect">
            <a:avLst>
              <a:gd name="adj" fmla="val 7619"/>
            </a:avLst>
          </a:prstGeom>
          <a:solidFill xmlns:a="http://schemas.openxmlformats.org/drawingml/2006/main">
            <a:srgbClr val="F2F2F2"/>
          </a:solidFill>
          <a:ln xmlns:a="http://schemas.openxmlformats.org/drawingml/2006/main" w="0">
            <a:solidFill>
              <a:srgbClr val="F2F2F2"/>
            </a:solidFill>
            <a:prstDash val="solid"/>
          </a:ln>
        </p:spPr>
      </p:sp>
      <p:sp>
        <p:nvSpPr>
          <p:cNvPr id="6" name="normal">
            <a:extLst xmlns:a="http://schemas.openxmlformats.org/drawingml/2006/main">
              <a:ext uri="{FF2B5EF4-FFF2-40B4-BE49-F238E27FC236}">
                <a16:creationId xmlns:a16="http://schemas.microsoft.com/office/drawing/2014/main" id="{93A6B4A8-4011-42D5-B9D6-C90615D325F2}"/>
              </a:ext>
            </a:extLst>
          </p:cNvPr>
          <p:cNvSpPr>
            <a:spLocks xmlns:a="http://schemas.openxmlformats.org/drawingml/2006/main" noGrp="1"/>
          </p:cNvSpPr>
          <p:nvPr/>
        </p:nvSpPr>
        <p:spPr>
          <a:xfrm xmlns:a="http://schemas.openxmlformats.org/drawingml/2006/main">
            <a:off x="6000750" y="1857375"/>
            <a:ext cx="1524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NORMAL</a:t>
            </a:r>
          </a:p>
        </p:txBody>
      </p:sp>
      <p:sp>
        <p:nvSpPr>
          <p:cNvPr id="7" name="normal-m">
            <a:extLst xmlns:a="http://schemas.openxmlformats.org/drawingml/2006/main">
              <a:ext uri="{FF2B5EF4-FFF2-40B4-BE49-F238E27FC236}">
                <a16:creationId xmlns:a16="http://schemas.microsoft.com/office/drawing/2014/main" id="{DAD9F3D7-5DE3-401A-BDDE-2814F69A0867}"/>
              </a:ext>
            </a:extLst>
          </p:cNvPr>
          <p:cNvSpPr>
            <a:spLocks xmlns:a="http://schemas.openxmlformats.org/drawingml/2006/main" noGrp="1"/>
          </p:cNvSpPr>
          <p:nvPr/>
        </p:nvSpPr>
        <p:spPr>
          <a:xfrm xmlns:a="http://schemas.openxmlformats.org/drawingml/2006/main">
            <a:off x="7810500" y="1857375"/>
            <a:ext cx="2857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1.00× rolling volatility</a:t>
            </a:r>
          </a:p>
        </p:txBody>
      </p:sp>
      <p:sp>
        <p:nvSpPr>
          <p:cNvPr id="8" name="state-elevated">
            <a:extLst xmlns:a="http://schemas.openxmlformats.org/drawingml/2006/main">
              <a:ext uri="{FF2B5EF4-FFF2-40B4-BE49-F238E27FC236}">
                <a16:creationId xmlns:a16="http://schemas.microsoft.com/office/drawing/2014/main" id="{0C45BDDF-4670-4440-957B-BB881FB91810}"/>
              </a:ext>
            </a:extLst>
          </p:cNvPr>
          <p:cNvSpPr>
            <a:spLocks xmlns:a="http://schemas.openxmlformats.org/drawingml/2006/main" noGrp="1"/>
          </p:cNvSpPr>
          <p:nvPr/>
        </p:nvSpPr>
        <p:spPr>
          <a:xfrm xmlns:a="http://schemas.openxmlformats.org/drawingml/2006/main">
            <a:off x="5715000" y="2952750"/>
            <a:ext cx="5334000" cy="1000125"/>
          </a:xfrm>
          <a:prstGeom xmlns:a="http://schemas.openxmlformats.org/drawingml/2006/main" prst="roundRect">
            <a:avLst>
              <a:gd name="adj" fmla="val 7619"/>
            </a:avLst>
          </a:prstGeom>
          <a:solidFill xmlns:a="http://schemas.openxmlformats.org/drawingml/2006/main">
            <a:srgbClr val="EAF5FB"/>
          </a:solidFill>
          <a:ln xmlns:a="http://schemas.openxmlformats.org/drawingml/2006/main" w="0">
            <a:solidFill>
              <a:srgbClr val="EAF5FB"/>
            </a:solidFill>
            <a:prstDash val="solid"/>
          </a:ln>
        </p:spPr>
      </p:sp>
      <p:sp>
        <p:nvSpPr>
          <p:cNvPr id="9" name="elevated">
            <a:extLst xmlns:a="http://schemas.openxmlformats.org/drawingml/2006/main">
              <a:ext uri="{FF2B5EF4-FFF2-40B4-BE49-F238E27FC236}">
                <a16:creationId xmlns:a16="http://schemas.microsoft.com/office/drawing/2014/main" id="{1E6F045E-F4BB-4915-9E8F-27CE2971AC5D}"/>
              </a:ext>
            </a:extLst>
          </p:cNvPr>
          <p:cNvSpPr>
            <a:spLocks xmlns:a="http://schemas.openxmlformats.org/drawingml/2006/main" noGrp="1"/>
          </p:cNvSpPr>
          <p:nvPr/>
        </p:nvSpPr>
        <p:spPr>
          <a:xfrm xmlns:a="http://schemas.openxmlformats.org/drawingml/2006/main">
            <a:off x="6000750" y="3190875"/>
            <a:ext cx="1524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t>ELEVATED</a:t>
            </a:r>
          </a:p>
        </p:txBody>
      </p:sp>
      <p:sp>
        <p:nvSpPr>
          <p:cNvPr id="10" name="elevated-m">
            <a:extLst xmlns:a="http://schemas.openxmlformats.org/drawingml/2006/main">
              <a:ext uri="{FF2B5EF4-FFF2-40B4-BE49-F238E27FC236}">
                <a16:creationId xmlns:a16="http://schemas.microsoft.com/office/drawing/2014/main" id="{A34E6F2F-E5E3-4465-9E7D-F2DBDFB171A9}"/>
              </a:ext>
            </a:extLst>
          </p:cNvPr>
          <p:cNvSpPr>
            <a:spLocks xmlns:a="http://schemas.openxmlformats.org/drawingml/2006/main" noGrp="1"/>
          </p:cNvSpPr>
          <p:nvPr/>
        </p:nvSpPr>
        <p:spPr>
          <a:xfrm xmlns:a="http://schemas.openxmlformats.org/drawingml/2006/main">
            <a:off x="7810500" y="3190875"/>
            <a:ext cx="2857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1.15× rolling volatility</a:t>
            </a:r>
          </a:p>
        </p:txBody>
      </p:sp>
      <p:sp>
        <p:nvSpPr>
          <p:cNvPr id="11" name="state-stress">
            <a:extLst xmlns:a="http://schemas.openxmlformats.org/drawingml/2006/main">
              <a:ext uri="{FF2B5EF4-FFF2-40B4-BE49-F238E27FC236}">
                <a16:creationId xmlns:a16="http://schemas.microsoft.com/office/drawing/2014/main" id="{315DF7DC-8944-44CE-919D-BB13A7716D98}"/>
              </a:ext>
            </a:extLst>
          </p:cNvPr>
          <p:cNvSpPr>
            <a:spLocks xmlns:a="http://schemas.openxmlformats.org/drawingml/2006/main" noGrp="1"/>
          </p:cNvSpPr>
          <p:nvPr/>
        </p:nvSpPr>
        <p:spPr>
          <a:xfrm xmlns:a="http://schemas.openxmlformats.org/drawingml/2006/main">
            <a:off x="5715000" y="4286250"/>
            <a:ext cx="5334000" cy="1000125"/>
          </a:xfrm>
          <a:prstGeom xmlns:a="http://schemas.openxmlformats.org/drawingml/2006/main" prst="roundRect">
            <a:avLst>
              <a:gd name="adj" fmla="val 7619"/>
            </a:avLst>
          </a:prstGeom>
          <a:solidFill xmlns:a="http://schemas.openxmlformats.org/drawingml/2006/main">
            <a:srgbClr val="D0EDFA"/>
          </a:solidFill>
          <a:ln xmlns:a="http://schemas.openxmlformats.org/drawingml/2006/main" w="0">
            <a:solidFill>
              <a:srgbClr val="D0EDFA"/>
            </a:solidFill>
            <a:prstDash val="solid"/>
          </a:ln>
        </p:spPr>
      </p:sp>
      <p:sp>
        <p:nvSpPr>
          <p:cNvPr id="12" name="stress">
            <a:extLst xmlns:a="http://schemas.openxmlformats.org/drawingml/2006/main">
              <a:ext uri="{FF2B5EF4-FFF2-40B4-BE49-F238E27FC236}">
                <a16:creationId xmlns:a16="http://schemas.microsoft.com/office/drawing/2014/main" id="{033E99EE-33C6-4076-A433-DBF91CC7F370}"/>
              </a:ext>
            </a:extLst>
          </p:cNvPr>
          <p:cNvSpPr>
            <a:spLocks xmlns:a="http://schemas.openxmlformats.org/drawingml/2006/main" noGrp="1"/>
          </p:cNvSpPr>
          <p:nvPr/>
        </p:nvSpPr>
        <p:spPr>
          <a:xfrm xmlns:a="http://schemas.openxmlformats.org/drawingml/2006/main">
            <a:off x="6000750" y="4524375"/>
            <a:ext cx="1524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t>STRESS</a:t>
            </a:r>
          </a:p>
        </p:txBody>
      </p:sp>
      <p:sp>
        <p:nvSpPr>
          <p:cNvPr id="13" name="stress-m">
            <a:extLst xmlns:a="http://schemas.openxmlformats.org/drawingml/2006/main">
              <a:ext uri="{FF2B5EF4-FFF2-40B4-BE49-F238E27FC236}">
                <a16:creationId xmlns:a16="http://schemas.microsoft.com/office/drawing/2014/main" id="{6EC4F2F9-5EE9-475B-8140-9C1117EEF1D2}"/>
              </a:ext>
            </a:extLst>
          </p:cNvPr>
          <p:cNvSpPr>
            <a:spLocks xmlns:a="http://schemas.openxmlformats.org/drawingml/2006/main" noGrp="1"/>
          </p:cNvSpPr>
          <p:nvPr/>
        </p:nvSpPr>
        <p:spPr>
          <a:xfrm xmlns:a="http://schemas.openxmlformats.org/drawingml/2006/main">
            <a:off x="7810500" y="4524375"/>
            <a:ext cx="2857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1.40× rolling volatility</a:t>
            </a:r>
          </a:p>
        </p:txBody>
      </p:sp>
      <p:sp>
        <p:nvSpPr>
          <p:cNvPr id="14" name="timing-note">
            <a:extLst xmlns:a="http://schemas.openxmlformats.org/drawingml/2006/main">
              <a:ext uri="{FF2B5EF4-FFF2-40B4-BE49-F238E27FC236}">
                <a16:creationId xmlns:a16="http://schemas.microsoft.com/office/drawing/2014/main" id="{EA705D1D-E46C-4191-93D4-7DD58242183E}"/>
              </a:ext>
            </a:extLst>
          </p:cNvPr>
          <p:cNvSpPr>
            <a:spLocks xmlns:a="http://schemas.openxmlformats.org/drawingml/2006/main" noGrp="1"/>
          </p:cNvSpPr>
          <p:nvPr/>
        </p:nvSpPr>
        <p:spPr>
          <a:xfrm xmlns:a="http://schemas.openxmlformats.org/drawingml/2006/main">
            <a:off x="400050" y="5810250"/>
            <a:ext cx="8096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555"/>
                </a:solidFill>
                <a:latin typeface="Helvetica Neue"/>
                <a:ea typeface="Helvetica Neue"/>
                <a:cs typeface="Helvetica Neue"/>
              </a:defRPr>
            </a:pPr>
            <a:r>
              <a:t>Every input at date t uses only information available at or before t.</a:t>
            </a:r>
          </a:p>
        </p:txBody>
      </p:sp>
    </p:spTree>
    <p:extLst>
      <p:ext uri="{BB962C8B-B14F-4D97-AF65-F5344CB8AC3E}">
        <p14:creationId xmlns:p14="http://schemas.microsoft.com/office/powerpoint/2010/main" val="6682760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91EA081-6A3D-4B34-BA34-9A0DDCF99F79}"/>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Stress signals matter most away from the money</a:t>
            </a:r>
          </a:p>
        </p:txBody>
      </p:sp>
      <p:sp>
        <p:nvSpPr>
          <p:cNvPr id="2" name="slide-number">
            <a:extLst xmlns:a="http://schemas.openxmlformats.org/drawingml/2006/main">
              <a:ext uri="{FF2B5EF4-FFF2-40B4-BE49-F238E27FC236}">
                <a16:creationId xmlns:a16="http://schemas.microsoft.com/office/drawing/2014/main" id="{66AE900B-A9E6-4364-813F-CD1178F90218}"/>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3" name="setup-label">
            <a:extLst xmlns:a="http://schemas.openxmlformats.org/drawingml/2006/main">
              <a:ext uri="{FF2B5EF4-FFF2-40B4-BE49-F238E27FC236}">
                <a16:creationId xmlns:a16="http://schemas.microsoft.com/office/drawing/2014/main" id="{495DD7BF-EB64-4AD0-BC03-39279B1B1C88}"/>
              </a:ext>
            </a:extLst>
          </p:cNvPr>
          <p:cNvSpPr>
            <a:spLocks xmlns:a="http://schemas.openxmlformats.org/drawingml/2006/main" noGrp="1"/>
          </p:cNvSpPr>
          <p:nvPr/>
        </p:nvSpPr>
        <p:spPr>
          <a:xfrm xmlns:a="http://schemas.openxmlformats.org/drawingml/2006/main">
            <a:off x="400050" y="1571625"/>
            <a:ext cx="2381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EXAMPLE CONTRACT</a:t>
            </a:r>
          </a:p>
        </p:txBody>
      </p:sp>
      <p:sp>
        <p:nvSpPr>
          <p:cNvPr id="4" name="setup">
            <a:extLst xmlns:a="http://schemas.openxmlformats.org/drawingml/2006/main">
              <a:ext uri="{FF2B5EF4-FFF2-40B4-BE49-F238E27FC236}">
                <a16:creationId xmlns:a16="http://schemas.microsoft.com/office/drawing/2014/main" id="{6813B079-BA8B-48B6-99CA-E2838EB4435D}"/>
              </a:ext>
            </a:extLst>
          </p:cNvPr>
          <p:cNvSpPr>
            <a:spLocks xmlns:a="http://schemas.openxmlformats.org/drawingml/2006/main" noGrp="1"/>
          </p:cNvSpPr>
          <p:nvPr/>
        </p:nvSpPr>
        <p:spPr>
          <a:xfrm xmlns:a="http://schemas.openxmlformats.org/drawingml/2006/main">
            <a:off x="400050" y="2047875"/>
            <a:ext cx="41910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S = 100   ·   K = 105
21 trading days   ·   r = 3%</a:t>
            </a:r>
          </a:p>
        </p:txBody>
      </p:sp>
      <p:sp>
        <p:nvSpPr>
          <p:cNvPr id="5" name="base-vol">
            <a:extLst xmlns:a="http://schemas.openxmlformats.org/drawingml/2006/main">
              <a:ext uri="{FF2B5EF4-FFF2-40B4-BE49-F238E27FC236}">
                <a16:creationId xmlns:a16="http://schemas.microsoft.com/office/drawing/2014/main" id="{A30636E1-305C-45C8-892E-E39374587BC6}"/>
              </a:ext>
            </a:extLst>
          </p:cNvPr>
          <p:cNvSpPr>
            <a:spLocks xmlns:a="http://schemas.openxmlformats.org/drawingml/2006/main" noGrp="1"/>
          </p:cNvSpPr>
          <p:nvPr/>
        </p:nvSpPr>
        <p:spPr>
          <a:xfrm xmlns:a="http://schemas.openxmlformats.org/drawingml/2006/main">
            <a:off x="5048250" y="1524000"/>
            <a:ext cx="2857500" cy="1666875"/>
          </a:xfrm>
          <a:prstGeom xmlns:a="http://schemas.openxmlformats.org/drawingml/2006/main" prst="roundRect">
            <a:avLst>
              <a:gd name="adj" fmla="val 4571"/>
            </a:avLst>
          </a:prstGeom>
          <a:solidFill xmlns:a="http://schemas.openxmlformats.org/drawingml/2006/main">
            <a:srgbClr val="F2F2F2"/>
          </a:solidFill>
          <a:ln xmlns:a="http://schemas.openxmlformats.org/drawingml/2006/main" w="0">
            <a:solidFill>
              <a:srgbClr val="F2F2F2"/>
            </a:solidFill>
            <a:prstDash val="solid"/>
          </a:ln>
        </p:spPr>
      </p:sp>
      <p:sp>
        <p:nvSpPr>
          <p:cNvPr id="6" name="base-vol-title">
            <a:extLst xmlns:a="http://schemas.openxmlformats.org/drawingml/2006/main">
              <a:ext uri="{FF2B5EF4-FFF2-40B4-BE49-F238E27FC236}">
                <a16:creationId xmlns:a16="http://schemas.microsoft.com/office/drawing/2014/main" id="{C70CA5B4-2E87-4E05-89C8-35358034C26C}"/>
              </a:ext>
            </a:extLst>
          </p:cNvPr>
          <p:cNvSpPr>
            <a:spLocks xmlns:a="http://schemas.openxmlformats.org/drawingml/2006/main" noGrp="1"/>
          </p:cNvSpPr>
          <p:nvPr/>
        </p:nvSpPr>
        <p:spPr>
          <a:xfrm xmlns:a="http://schemas.openxmlformats.org/drawingml/2006/main">
            <a:off x="5334000" y="1809750"/>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t>NORMAL STATE</a:t>
            </a:r>
          </a:p>
        </p:txBody>
      </p:sp>
      <p:sp>
        <p:nvSpPr>
          <p:cNvPr id="7" name="base-vol-sigma">
            <a:extLst xmlns:a="http://schemas.openxmlformats.org/drawingml/2006/main">
              <a:ext uri="{FF2B5EF4-FFF2-40B4-BE49-F238E27FC236}">
                <a16:creationId xmlns:a16="http://schemas.microsoft.com/office/drawing/2014/main" id="{2E1F07AE-F85C-459E-9336-4BAF5C97B206}"/>
              </a:ext>
            </a:extLst>
          </p:cNvPr>
          <p:cNvSpPr>
            <a:spLocks xmlns:a="http://schemas.openxmlformats.org/drawingml/2006/main" noGrp="1"/>
          </p:cNvSpPr>
          <p:nvPr/>
        </p:nvSpPr>
        <p:spPr>
          <a:xfrm xmlns:a="http://schemas.openxmlformats.org/drawingml/2006/main">
            <a:off x="5334000" y="2286000"/>
            <a:ext cx="20955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t>σ = 20%</a:t>
            </a:r>
          </a:p>
        </p:txBody>
      </p:sp>
      <p:sp>
        <p:nvSpPr>
          <p:cNvPr id="8" name="stress-vol">
            <a:extLst xmlns:a="http://schemas.openxmlformats.org/drawingml/2006/main">
              <a:ext uri="{FF2B5EF4-FFF2-40B4-BE49-F238E27FC236}">
                <a16:creationId xmlns:a16="http://schemas.microsoft.com/office/drawing/2014/main" id="{D2B70491-D74C-4C11-BC2E-7F8409B261F4}"/>
              </a:ext>
            </a:extLst>
          </p:cNvPr>
          <p:cNvSpPr>
            <a:spLocks xmlns:a="http://schemas.openxmlformats.org/drawingml/2006/main" noGrp="1"/>
          </p:cNvSpPr>
          <p:nvPr/>
        </p:nvSpPr>
        <p:spPr>
          <a:xfrm xmlns:a="http://schemas.openxmlformats.org/drawingml/2006/main">
            <a:off x="8286750" y="1524000"/>
            <a:ext cx="2857500" cy="1666875"/>
          </a:xfrm>
          <a:prstGeom xmlns:a="http://schemas.openxmlformats.org/drawingml/2006/main" prst="roundRect">
            <a:avLst>
              <a:gd name="adj" fmla="val 4571"/>
            </a:avLst>
          </a:prstGeom>
          <a:solidFill xmlns:a="http://schemas.openxmlformats.org/drawingml/2006/main">
            <a:srgbClr val="D0EDFA"/>
          </a:solidFill>
          <a:ln xmlns:a="http://schemas.openxmlformats.org/drawingml/2006/main" w="0">
            <a:solidFill>
              <a:srgbClr val="D0EDFA"/>
            </a:solidFill>
            <a:prstDash val="solid"/>
          </a:ln>
        </p:spPr>
      </p:sp>
      <p:sp>
        <p:nvSpPr>
          <p:cNvPr id="9" name="stress-vol-title">
            <a:extLst xmlns:a="http://schemas.openxmlformats.org/drawingml/2006/main">
              <a:ext uri="{FF2B5EF4-FFF2-40B4-BE49-F238E27FC236}">
                <a16:creationId xmlns:a16="http://schemas.microsoft.com/office/drawing/2014/main" id="{0D3188F4-17AE-4101-AA65-49777E2761D3}"/>
              </a:ext>
            </a:extLst>
          </p:cNvPr>
          <p:cNvSpPr>
            <a:spLocks xmlns:a="http://schemas.openxmlformats.org/drawingml/2006/main" noGrp="1"/>
          </p:cNvSpPr>
          <p:nvPr/>
        </p:nvSpPr>
        <p:spPr>
          <a:xfrm xmlns:a="http://schemas.openxmlformats.org/drawingml/2006/main">
            <a:off x="8572500" y="1809750"/>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STRESS STATE</a:t>
            </a:r>
          </a:p>
        </p:txBody>
      </p:sp>
      <p:sp>
        <p:nvSpPr>
          <p:cNvPr id="10" name="stress-vol-sigma">
            <a:extLst xmlns:a="http://schemas.openxmlformats.org/drawingml/2006/main">
              <a:ext uri="{FF2B5EF4-FFF2-40B4-BE49-F238E27FC236}">
                <a16:creationId xmlns:a16="http://schemas.microsoft.com/office/drawing/2014/main" id="{DE72FBEF-5064-44EA-90AA-33EC76B07DD6}"/>
              </a:ext>
            </a:extLst>
          </p:cNvPr>
          <p:cNvSpPr>
            <a:spLocks xmlns:a="http://schemas.openxmlformats.org/drawingml/2006/main" noGrp="1"/>
          </p:cNvSpPr>
          <p:nvPr/>
        </p:nvSpPr>
        <p:spPr>
          <a:xfrm xmlns:a="http://schemas.openxmlformats.org/drawingml/2006/main">
            <a:off x="8572500" y="2286000"/>
            <a:ext cx="20955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3D8DFF"/>
                </a:solidFill>
                <a:latin typeface="Helvetica Neue"/>
                <a:ea typeface="Helvetica Neue"/>
                <a:cs typeface="Helvetica Neue"/>
              </a:defRPr>
            </a:pPr>
            <a:r>
              <a:t>σ = 28%</a:t>
            </a:r>
          </a:p>
        </p:txBody>
      </p:sp>
      <p:sp>
        <p:nvSpPr>
          <p:cNvPr id="11" name="formula">
            <a:extLst xmlns:a="http://schemas.openxmlformats.org/drawingml/2006/main">
              <a:ext uri="{FF2B5EF4-FFF2-40B4-BE49-F238E27FC236}">
                <a16:creationId xmlns:a16="http://schemas.microsoft.com/office/drawing/2014/main" id="{8A2A8F3A-8132-4362-95D6-8543C9DAB707}"/>
              </a:ext>
            </a:extLst>
          </p:cNvPr>
          <p:cNvSpPr>
            <a:spLocks xmlns:a="http://schemas.openxmlformats.org/drawingml/2006/main" noGrp="1"/>
          </p:cNvSpPr>
          <p:nvPr/>
        </p:nvSpPr>
        <p:spPr>
          <a:xfrm xmlns:a="http://schemas.openxmlformats.org/drawingml/2006/main">
            <a:off x="3143250" y="3667125"/>
            <a:ext cx="66675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Δ = N( [ln(S/K) + (r + σ²/2)τ] / (σ√τ) )</a:t>
            </a:r>
          </a:p>
        </p:txBody>
      </p:sp>
      <p:sp>
        <p:nvSpPr>
          <p:cNvPr id="12" name="delta-base">
            <a:extLst xmlns:a="http://schemas.openxmlformats.org/drawingml/2006/main">
              <a:ext uri="{FF2B5EF4-FFF2-40B4-BE49-F238E27FC236}">
                <a16:creationId xmlns:a16="http://schemas.microsoft.com/office/drawing/2014/main" id="{91065330-E29F-4CBB-BD08-A0E30CF7C081}"/>
              </a:ext>
            </a:extLst>
          </p:cNvPr>
          <p:cNvSpPr>
            <a:spLocks xmlns:a="http://schemas.openxmlformats.org/drawingml/2006/main" noGrp="1"/>
          </p:cNvSpPr>
          <p:nvPr/>
        </p:nvSpPr>
        <p:spPr>
          <a:xfrm xmlns:a="http://schemas.openxmlformats.org/drawingml/2006/main">
            <a:off x="1809750" y="4667250"/>
            <a:ext cx="3238500" cy="1143000"/>
          </a:xfrm>
          <a:prstGeom xmlns:a="http://schemas.openxmlformats.org/drawingml/2006/main" prst="roundRect">
            <a:avLst>
              <a:gd name="adj" fmla="val 6667"/>
            </a:avLst>
          </a:prstGeom>
          <a:solidFill xmlns:a="http://schemas.openxmlformats.org/drawingml/2006/main">
            <a:srgbClr val="F2F2F2"/>
          </a:solidFill>
          <a:ln xmlns:a="http://schemas.openxmlformats.org/drawingml/2006/main" w="0">
            <a:solidFill>
              <a:srgbClr val="F2F2F2"/>
            </a:solidFill>
            <a:prstDash val="solid"/>
          </a:ln>
        </p:spPr>
      </p:sp>
      <p:sp>
        <p:nvSpPr>
          <p:cNvPr id="13" name="delta-base-n">
            <a:extLst xmlns:a="http://schemas.openxmlformats.org/drawingml/2006/main">
              <a:ext uri="{FF2B5EF4-FFF2-40B4-BE49-F238E27FC236}">
                <a16:creationId xmlns:a16="http://schemas.microsoft.com/office/drawing/2014/main" id="{8A2BD17B-BAFB-4CDD-ABE8-1DFAACD1573F}"/>
              </a:ext>
            </a:extLst>
          </p:cNvPr>
          <p:cNvSpPr>
            <a:spLocks xmlns:a="http://schemas.openxmlformats.org/drawingml/2006/main" noGrp="1"/>
          </p:cNvSpPr>
          <p:nvPr/>
        </p:nvSpPr>
        <p:spPr>
          <a:xfrm xmlns:a="http://schemas.openxmlformats.org/drawingml/2006/main">
            <a:off x="2190750" y="5000625"/>
            <a:ext cx="257175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t>Δ = 0.220</a:t>
            </a:r>
          </a:p>
        </p:txBody>
      </p:sp>
      <p:sp>
        <p:nvSpPr>
          <p:cNvPr id="14" name="delta-stress">
            <a:extLst xmlns:a="http://schemas.openxmlformats.org/drawingml/2006/main">
              <a:ext uri="{FF2B5EF4-FFF2-40B4-BE49-F238E27FC236}">
                <a16:creationId xmlns:a16="http://schemas.microsoft.com/office/drawing/2014/main" id="{B6360B39-A174-47D3-9FBE-189F04AF9783}"/>
              </a:ext>
            </a:extLst>
          </p:cNvPr>
          <p:cNvSpPr>
            <a:spLocks xmlns:a="http://schemas.openxmlformats.org/drawingml/2006/main" noGrp="1"/>
          </p:cNvSpPr>
          <p:nvPr/>
        </p:nvSpPr>
        <p:spPr>
          <a:xfrm xmlns:a="http://schemas.openxmlformats.org/drawingml/2006/main">
            <a:off x="7143750" y="4667250"/>
            <a:ext cx="3238500" cy="1143000"/>
          </a:xfrm>
          <a:prstGeom xmlns:a="http://schemas.openxmlformats.org/drawingml/2006/main" prst="roundRect">
            <a:avLst>
              <a:gd name="adj" fmla="val 6667"/>
            </a:avLst>
          </a:prstGeom>
          <a:solidFill xmlns:a="http://schemas.openxmlformats.org/drawingml/2006/main">
            <a:srgbClr val="EAF5FB"/>
          </a:solidFill>
          <a:ln xmlns:a="http://schemas.openxmlformats.org/drawingml/2006/main" w="0">
            <a:solidFill>
              <a:srgbClr val="EAF5FB"/>
            </a:solidFill>
            <a:prstDash val="solid"/>
          </a:ln>
        </p:spPr>
      </p:sp>
      <p:sp>
        <p:nvSpPr>
          <p:cNvPr id="15" name="delta-stress-n">
            <a:extLst xmlns:a="http://schemas.openxmlformats.org/drawingml/2006/main">
              <a:ext uri="{FF2B5EF4-FFF2-40B4-BE49-F238E27FC236}">
                <a16:creationId xmlns:a16="http://schemas.microsoft.com/office/drawing/2014/main" id="{ED3F185F-1A2F-43F0-994C-753ECFA3AD0B}"/>
              </a:ext>
            </a:extLst>
          </p:cNvPr>
          <p:cNvSpPr>
            <a:spLocks xmlns:a="http://schemas.openxmlformats.org/drawingml/2006/main" noGrp="1"/>
          </p:cNvSpPr>
          <p:nvPr/>
        </p:nvSpPr>
        <p:spPr>
          <a:xfrm xmlns:a="http://schemas.openxmlformats.org/drawingml/2006/main">
            <a:off x="7524750" y="5000625"/>
            <a:ext cx="257175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3D8DFF"/>
                </a:solidFill>
                <a:latin typeface="Helvetica Neue"/>
                <a:ea typeface="Helvetica Neue"/>
                <a:cs typeface="Helvetica Neue"/>
              </a:defRPr>
            </a:pPr>
            <a:r>
              <a:t>Δ = 0.297</a:t>
            </a:r>
          </a:p>
        </p:txBody>
      </p:sp>
      <p:sp>
        <p:nvSpPr>
          <p:cNvPr id="16" name="delta-change">
            <a:extLst xmlns:a="http://schemas.openxmlformats.org/drawingml/2006/main">
              <a:ext uri="{FF2B5EF4-FFF2-40B4-BE49-F238E27FC236}">
                <a16:creationId xmlns:a16="http://schemas.microsoft.com/office/drawing/2014/main" id="{6CF9E812-5C04-441B-8B77-2E2716F40BAE}"/>
              </a:ext>
            </a:extLst>
          </p:cNvPr>
          <p:cNvSpPr>
            <a:spLocks xmlns:a="http://schemas.openxmlformats.org/drawingml/2006/main" noGrp="1"/>
          </p:cNvSpPr>
          <p:nvPr/>
        </p:nvSpPr>
        <p:spPr>
          <a:xfrm xmlns:a="http://schemas.openxmlformats.org/drawingml/2006/main">
            <a:off x="3857625" y="6048375"/>
            <a:ext cx="4476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t>BUY 0.077 MORE SHARES PER OPTION</a:t>
            </a:r>
          </a:p>
        </p:txBody>
      </p:sp>
    </p:spTree>
    <p:extLst>
      <p:ext uri="{BB962C8B-B14F-4D97-AF65-F5344CB8AC3E}">
        <p14:creationId xmlns:p14="http://schemas.microsoft.com/office/powerpoint/2010/main" val="5957490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6815D09C-A509-4F59-8E3F-388E27F7563D}"/>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held-out test spans 1,149 controlled claims per strategy</a:t>
            </a:r>
          </a:p>
        </p:txBody>
      </p:sp>
      <p:sp>
        <p:nvSpPr>
          <p:cNvPr id="2" name="slide-number">
            <a:extLst xmlns:a="http://schemas.openxmlformats.org/drawingml/2006/main">
              <a:ext uri="{FF2B5EF4-FFF2-40B4-BE49-F238E27FC236}">
                <a16:creationId xmlns:a16="http://schemas.microsoft.com/office/drawing/2014/main" id="{6E4354C4-2794-45F0-BE85-5724627C599D}"/>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3" name="stat-a">
            <a:extLst xmlns:a="http://schemas.openxmlformats.org/drawingml/2006/main">
              <a:ext uri="{FF2B5EF4-FFF2-40B4-BE49-F238E27FC236}">
                <a16:creationId xmlns:a16="http://schemas.microsoft.com/office/drawing/2014/main" id="{9B8283A0-B061-4644-ABE3-FA12102B3EA0}"/>
              </a:ext>
            </a:extLst>
          </p:cNvPr>
          <p:cNvSpPr>
            <a:spLocks xmlns:a="http://schemas.openxmlformats.org/drawingml/2006/main" noGrp="1"/>
          </p:cNvSpPr>
          <p:nvPr/>
        </p:nvSpPr>
        <p:spPr>
          <a:xfrm xmlns:a="http://schemas.openxmlformats.org/drawingml/2006/main">
            <a:off x="400050" y="1714500"/>
            <a:ext cx="3333750" cy="1619250"/>
          </a:xfrm>
          <a:prstGeom xmlns:a="http://schemas.openxmlformats.org/drawingml/2006/main" prst="roundRect">
            <a:avLst>
              <a:gd name="adj" fmla="val 4706"/>
            </a:avLst>
          </a:prstGeom>
          <a:solidFill xmlns:a="http://schemas.openxmlformats.org/drawingml/2006/main">
            <a:srgbClr val="EAF5FB"/>
          </a:solidFill>
          <a:ln xmlns:a="http://schemas.openxmlformats.org/drawingml/2006/main" w="0">
            <a:solidFill>
              <a:srgbClr val="EAF5FB"/>
            </a:solidFill>
            <a:prstDash val="solid"/>
          </a:ln>
        </p:spPr>
      </p:sp>
      <p:sp>
        <p:nvSpPr>
          <p:cNvPr id="4" name="stat-a-n">
            <a:extLst xmlns:a="http://schemas.openxmlformats.org/drawingml/2006/main">
              <a:ext uri="{FF2B5EF4-FFF2-40B4-BE49-F238E27FC236}">
                <a16:creationId xmlns:a16="http://schemas.microsoft.com/office/drawing/2014/main" id="{2AFDC952-144B-4657-B8B3-7C81ED029784}"/>
              </a:ext>
            </a:extLst>
          </p:cNvPr>
          <p:cNvSpPr>
            <a:spLocks xmlns:a="http://schemas.openxmlformats.org/drawingml/2006/main" noGrp="1"/>
          </p:cNvSpPr>
          <p:nvPr/>
        </p:nvSpPr>
        <p:spPr>
          <a:xfrm xmlns:a="http://schemas.openxmlformats.org/drawingml/2006/main">
            <a:off x="666750" y="1952625"/>
            <a:ext cx="9525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3D8DFF"/>
                </a:solidFill>
                <a:latin typeface="Helvetica Neue"/>
                <a:ea typeface="Helvetica Neue"/>
                <a:cs typeface="Helvetica Neue"/>
              </a:defRPr>
            </a:pPr>
            <a:r>
              <a:t>3</a:t>
            </a:r>
          </a:p>
        </p:txBody>
      </p:sp>
      <p:sp>
        <p:nvSpPr>
          <p:cNvPr id="5" name="stat-a-t">
            <a:extLst xmlns:a="http://schemas.openxmlformats.org/drawingml/2006/main">
              <a:ext uri="{FF2B5EF4-FFF2-40B4-BE49-F238E27FC236}">
                <a16:creationId xmlns:a16="http://schemas.microsoft.com/office/drawing/2014/main" id="{E3596C2F-58FA-4B5D-9B0B-BFBCF38619DF}"/>
              </a:ext>
            </a:extLst>
          </p:cNvPr>
          <p:cNvSpPr>
            <a:spLocks xmlns:a="http://schemas.openxmlformats.org/drawingml/2006/main" noGrp="1"/>
          </p:cNvSpPr>
          <p:nvPr/>
        </p:nvSpPr>
        <p:spPr>
          <a:xfrm xmlns:a="http://schemas.openxmlformats.org/drawingml/2006/main">
            <a:off x="666750" y="2714625"/>
            <a:ext cx="209550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maturities</a:t>
            </a:r>
          </a:p>
        </p:txBody>
      </p:sp>
      <p:sp>
        <p:nvSpPr>
          <p:cNvPr id="6" name="stat-b">
            <a:extLst xmlns:a="http://schemas.openxmlformats.org/drawingml/2006/main">
              <a:ext uri="{FF2B5EF4-FFF2-40B4-BE49-F238E27FC236}">
                <a16:creationId xmlns:a16="http://schemas.microsoft.com/office/drawing/2014/main" id="{9F2787BA-5B21-401E-8E44-E627035BE9FF}"/>
              </a:ext>
            </a:extLst>
          </p:cNvPr>
          <p:cNvSpPr>
            <a:spLocks xmlns:a="http://schemas.openxmlformats.org/drawingml/2006/main" noGrp="1"/>
          </p:cNvSpPr>
          <p:nvPr/>
        </p:nvSpPr>
        <p:spPr>
          <a:xfrm xmlns:a="http://schemas.openxmlformats.org/drawingml/2006/main">
            <a:off x="4143375" y="1714500"/>
            <a:ext cx="3333750" cy="1619250"/>
          </a:xfrm>
          <a:prstGeom xmlns:a="http://schemas.openxmlformats.org/drawingml/2006/main" prst="roundRect">
            <a:avLst>
              <a:gd name="adj" fmla="val 4706"/>
            </a:avLst>
          </a:prstGeom>
          <a:solidFill xmlns:a="http://schemas.openxmlformats.org/drawingml/2006/main">
            <a:srgbClr val="F2F2F2"/>
          </a:solidFill>
          <a:ln xmlns:a="http://schemas.openxmlformats.org/drawingml/2006/main" w="0">
            <a:solidFill>
              <a:srgbClr val="F2F2F2"/>
            </a:solidFill>
            <a:prstDash val="solid"/>
          </a:ln>
        </p:spPr>
      </p:sp>
      <p:sp>
        <p:nvSpPr>
          <p:cNvPr id="7" name="stat-b-n">
            <a:extLst xmlns:a="http://schemas.openxmlformats.org/drawingml/2006/main">
              <a:ext uri="{FF2B5EF4-FFF2-40B4-BE49-F238E27FC236}">
                <a16:creationId xmlns:a16="http://schemas.microsoft.com/office/drawing/2014/main" id="{784EBD01-8E03-49AB-8997-BDF84944B946}"/>
              </a:ext>
            </a:extLst>
          </p:cNvPr>
          <p:cNvSpPr>
            <a:spLocks xmlns:a="http://schemas.openxmlformats.org/drawingml/2006/main" noGrp="1"/>
          </p:cNvSpPr>
          <p:nvPr/>
        </p:nvSpPr>
        <p:spPr>
          <a:xfrm xmlns:a="http://schemas.openxmlformats.org/drawingml/2006/main">
            <a:off x="4410075" y="1952625"/>
            <a:ext cx="9525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000000"/>
                </a:solidFill>
                <a:latin typeface="Helvetica Neue"/>
                <a:ea typeface="Helvetica Neue"/>
                <a:cs typeface="Helvetica Neue"/>
              </a:defRPr>
            </a:pPr>
            <a:r>
              <a:t>3</a:t>
            </a:r>
          </a:p>
        </p:txBody>
      </p:sp>
      <p:sp>
        <p:nvSpPr>
          <p:cNvPr id="8" name="stat-b-t">
            <a:extLst xmlns:a="http://schemas.openxmlformats.org/drawingml/2006/main">
              <a:ext uri="{FF2B5EF4-FFF2-40B4-BE49-F238E27FC236}">
                <a16:creationId xmlns:a16="http://schemas.microsoft.com/office/drawing/2014/main" id="{36B37D82-C721-428E-96B1-D00D0D415A9B}"/>
              </a:ext>
            </a:extLst>
          </p:cNvPr>
          <p:cNvSpPr>
            <a:spLocks xmlns:a="http://schemas.openxmlformats.org/drawingml/2006/main" noGrp="1"/>
          </p:cNvSpPr>
          <p:nvPr/>
        </p:nvSpPr>
        <p:spPr>
          <a:xfrm xmlns:a="http://schemas.openxmlformats.org/drawingml/2006/main">
            <a:off x="4410075" y="2714625"/>
            <a:ext cx="23812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moneyness levels</a:t>
            </a:r>
          </a:p>
        </p:txBody>
      </p:sp>
      <p:sp>
        <p:nvSpPr>
          <p:cNvPr id="9" name="stat-c">
            <a:extLst xmlns:a="http://schemas.openxmlformats.org/drawingml/2006/main">
              <a:ext uri="{FF2B5EF4-FFF2-40B4-BE49-F238E27FC236}">
                <a16:creationId xmlns:a16="http://schemas.microsoft.com/office/drawing/2014/main" id="{9C450F9F-4414-4019-BED0-AA9B4FD02149}"/>
              </a:ext>
            </a:extLst>
          </p:cNvPr>
          <p:cNvSpPr>
            <a:spLocks xmlns:a="http://schemas.openxmlformats.org/drawingml/2006/main" noGrp="1"/>
          </p:cNvSpPr>
          <p:nvPr/>
        </p:nvSpPr>
        <p:spPr>
          <a:xfrm xmlns:a="http://schemas.openxmlformats.org/drawingml/2006/main">
            <a:off x="7886700" y="1714500"/>
            <a:ext cx="3333750" cy="1619250"/>
          </a:xfrm>
          <a:prstGeom xmlns:a="http://schemas.openxmlformats.org/drawingml/2006/main" prst="roundRect">
            <a:avLst>
              <a:gd name="adj" fmla="val 4706"/>
            </a:avLst>
          </a:prstGeom>
          <a:solidFill xmlns:a="http://schemas.openxmlformats.org/drawingml/2006/main">
            <a:srgbClr val="F2F2F2"/>
          </a:solidFill>
          <a:ln xmlns:a="http://schemas.openxmlformats.org/drawingml/2006/main" w="0">
            <a:solidFill>
              <a:srgbClr val="F2F2F2"/>
            </a:solidFill>
            <a:prstDash val="solid"/>
          </a:ln>
        </p:spPr>
      </p:sp>
      <p:sp>
        <p:nvSpPr>
          <p:cNvPr id="10" name="stat-c-n">
            <a:extLst xmlns:a="http://schemas.openxmlformats.org/drawingml/2006/main">
              <a:ext uri="{FF2B5EF4-FFF2-40B4-BE49-F238E27FC236}">
                <a16:creationId xmlns:a16="http://schemas.microsoft.com/office/drawing/2014/main" id="{4BAF4CD2-27D4-49E5-BD6B-7E444F4F255D}"/>
              </a:ext>
            </a:extLst>
          </p:cNvPr>
          <p:cNvSpPr>
            <a:spLocks xmlns:a="http://schemas.openxmlformats.org/drawingml/2006/main" noGrp="1"/>
          </p:cNvSpPr>
          <p:nvPr/>
        </p:nvSpPr>
        <p:spPr>
          <a:xfrm xmlns:a="http://schemas.openxmlformats.org/drawingml/2006/main">
            <a:off x="8153400" y="1952625"/>
            <a:ext cx="9525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a:solidFill>
                  <a:srgbClr val="000000"/>
                </a:solidFill>
                <a:latin typeface="Helvetica Neue"/>
                <a:ea typeface="Helvetica Neue"/>
                <a:cs typeface="Helvetica Neue"/>
              </a:defRPr>
            </a:pPr>
            <a:r>
              <a:t>5</a:t>
            </a:r>
          </a:p>
        </p:txBody>
      </p:sp>
      <p:sp>
        <p:nvSpPr>
          <p:cNvPr id="11" name="stat-c-t">
            <a:extLst xmlns:a="http://schemas.openxmlformats.org/drawingml/2006/main">
              <a:ext uri="{FF2B5EF4-FFF2-40B4-BE49-F238E27FC236}">
                <a16:creationId xmlns:a16="http://schemas.microsoft.com/office/drawing/2014/main" id="{92FCB6C3-4939-405C-B967-D5E9B5250934}"/>
              </a:ext>
            </a:extLst>
          </p:cNvPr>
          <p:cNvSpPr>
            <a:spLocks xmlns:a="http://schemas.openxmlformats.org/drawingml/2006/main" noGrp="1"/>
          </p:cNvSpPr>
          <p:nvPr/>
        </p:nvSpPr>
        <p:spPr>
          <a:xfrm xmlns:a="http://schemas.openxmlformats.org/drawingml/2006/main">
            <a:off x="8153400" y="2714625"/>
            <a:ext cx="2667000" cy="476250"/>
          </a:xfrm>
          <a:prstGeom xmlns:a="http://schemas.openxmlformats.org/drawingml/2006/main" prst="rect">
            <a:avLst/>
          </a:prstGeom>
        </p:spPr>
        <p:txBody>
          <a:bodyPr xmlns:a="http://schemas.openxmlformats.org/drawingml/2006/main" lIns="0" tIns="0" rIns="0" bIns="0" anchor="t">
            <a:normAutofit fontScale="93877"/>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trading days between starts</a:t>
            </a:r>
          </a:p>
        </p:txBody>
      </p:sp>
      <p:sp>
        <p:nvSpPr>
          <p:cNvPr id="12" name="maturities">
            <a:extLst xmlns:a="http://schemas.openxmlformats.org/drawingml/2006/main">
              <a:ext uri="{FF2B5EF4-FFF2-40B4-BE49-F238E27FC236}">
                <a16:creationId xmlns:a16="http://schemas.microsoft.com/office/drawing/2014/main" id="{6F5182A6-8710-441D-BD8B-15665D743A67}"/>
              </a:ext>
            </a:extLst>
          </p:cNvPr>
          <p:cNvSpPr>
            <a:spLocks xmlns:a="http://schemas.openxmlformats.org/drawingml/2006/main" noGrp="1"/>
          </p:cNvSpPr>
          <p:nvPr/>
        </p:nvSpPr>
        <p:spPr>
          <a:xfrm xmlns:a="http://schemas.openxmlformats.org/drawingml/2006/main">
            <a:off x="400050" y="3952875"/>
            <a:ext cx="51435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MATURITY  10 · 21 · 42 trading days</a:t>
            </a:r>
          </a:p>
        </p:txBody>
      </p:sp>
      <p:sp>
        <p:nvSpPr>
          <p:cNvPr id="13" name="money">
            <a:extLst xmlns:a="http://schemas.openxmlformats.org/drawingml/2006/main">
              <a:ext uri="{FF2B5EF4-FFF2-40B4-BE49-F238E27FC236}">
                <a16:creationId xmlns:a16="http://schemas.microsoft.com/office/drawing/2014/main" id="{E782FE1F-E72B-492F-A146-7BB087D28FE4}"/>
              </a:ext>
            </a:extLst>
          </p:cNvPr>
          <p:cNvSpPr>
            <a:spLocks xmlns:a="http://schemas.openxmlformats.org/drawingml/2006/main" noGrp="1"/>
          </p:cNvSpPr>
          <p:nvPr/>
        </p:nvSpPr>
        <p:spPr>
          <a:xfrm xmlns:a="http://schemas.openxmlformats.org/drawingml/2006/main">
            <a:off x="400050" y="4619625"/>
            <a:ext cx="51435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STRIKE / SPOT  0.95 · 1.00 · 1.05</a:t>
            </a:r>
          </a:p>
        </p:txBody>
      </p:sp>
      <p:sp>
        <p:nvSpPr>
          <p:cNvPr id="14" name="cost">
            <a:extLst xmlns:a="http://schemas.openxmlformats.org/drawingml/2006/main">
              <a:ext uri="{FF2B5EF4-FFF2-40B4-BE49-F238E27FC236}">
                <a16:creationId xmlns:a16="http://schemas.microsoft.com/office/drawing/2014/main" id="{714A8864-E103-46D2-A8EE-0DBE59DA66C5}"/>
              </a:ext>
            </a:extLst>
          </p:cNvPr>
          <p:cNvSpPr>
            <a:spLocks xmlns:a="http://schemas.openxmlformats.org/drawingml/2006/main" noGrp="1"/>
          </p:cNvSpPr>
          <p:nvPr/>
        </p:nvSpPr>
        <p:spPr>
          <a:xfrm xmlns:a="http://schemas.openxmlformats.org/drawingml/2006/main">
            <a:off x="400050" y="5286375"/>
            <a:ext cx="6191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COSTS  0 · 5 · 10 bps in sensitivity tests</a:t>
            </a:r>
          </a:p>
        </p:txBody>
      </p:sp>
      <p:sp>
        <p:nvSpPr>
          <p:cNvPr id="15" name="payoff">
            <a:extLst xmlns:a="http://schemas.openxmlformats.org/drawingml/2006/main">
              <a:ext uri="{FF2B5EF4-FFF2-40B4-BE49-F238E27FC236}">
                <a16:creationId xmlns:a16="http://schemas.microsoft.com/office/drawing/2014/main" id="{B7C009CE-25A6-4F90-B205-2BE9815E02C3}"/>
              </a:ext>
            </a:extLst>
          </p:cNvPr>
          <p:cNvSpPr>
            <a:spLocks xmlns:a="http://schemas.openxmlformats.org/drawingml/2006/main" noGrp="1"/>
          </p:cNvSpPr>
          <p:nvPr/>
        </p:nvSpPr>
        <p:spPr>
          <a:xfrm xmlns:a="http://schemas.openxmlformats.org/drawingml/2006/main">
            <a:off x="6953250" y="4143375"/>
            <a:ext cx="428625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Observed SPY path → controlled European-call payoff</a:t>
            </a:r>
          </a:p>
        </p:txBody>
      </p:sp>
    </p:spTree>
    <p:extLst>
      <p:ext uri="{BB962C8B-B14F-4D97-AF65-F5344CB8AC3E}">
        <p14:creationId xmlns:p14="http://schemas.microsoft.com/office/powerpoint/2010/main" val="19441377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4FEA903-2601-4F12-A328-14E38E4B58A3}"/>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test period remains untouched until final evaluation</a:t>
            </a:r>
          </a:p>
        </p:txBody>
      </p:sp>
      <p:sp>
        <p:nvSpPr>
          <p:cNvPr id="2" name="slide-number">
            <a:extLst xmlns:a="http://schemas.openxmlformats.org/drawingml/2006/main">
              <a:ext uri="{FF2B5EF4-FFF2-40B4-BE49-F238E27FC236}">
                <a16:creationId xmlns:a16="http://schemas.microsoft.com/office/drawing/2014/main" id="{5A2C5176-B744-40CD-BAE5-2222F3FEF339}"/>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cxnSp>
        <p:nvCxnSpPr>
          <p:cNvPr id="18" name="timeline"/>
          <p:cNvCxnSpPr/>
          <p:nvPr/>
        </p:nvCxnSpPr>
        <p:spPr>
          <a:xfrm xmlns:a="http://schemas.openxmlformats.org/drawingml/2006/main">
            <a:off x="809625" y="3286125"/>
            <a:ext cx="10191750" cy="9525"/>
          </a:xfrm>
          <a:prstGeom xmlns:a="http://schemas.openxmlformats.org/drawingml/2006/main" prst="straightConnector1">
            <a:avLst/>
          </a:prstGeom>
          <a:ln xmlns:a="http://schemas.openxmlformats.org/drawingml/2006/main" w="19050">
            <a:solidFill>
              <a:srgbClr val="000000"/>
            </a:solidFill>
            <a:prstDash val="solid"/>
          </a:ln>
        </p:spPr>
      </p:cxnSp>
      <p:sp>
        <p:nvSpPr>
          <p:cNvPr id="4" name="dot-0">
            <a:extLst xmlns:a="http://schemas.openxmlformats.org/drawingml/2006/main">
              <a:ext uri="{FF2B5EF4-FFF2-40B4-BE49-F238E27FC236}">
                <a16:creationId xmlns:a16="http://schemas.microsoft.com/office/drawing/2014/main" id="{53836AE2-80FB-4E4B-8B9F-0D75C6CF8673}"/>
              </a:ext>
            </a:extLst>
          </p:cNvPr>
          <p:cNvSpPr>
            <a:spLocks xmlns:a="http://schemas.openxmlformats.org/drawingml/2006/main" noGrp="1"/>
          </p:cNvSpPr>
          <p:nvPr/>
        </p:nvSpPr>
        <p:spPr>
          <a:xfrm xmlns:a="http://schemas.openxmlformats.org/drawingml/2006/main">
            <a:off x="952500" y="3209925"/>
            <a:ext cx="152400" cy="152400"/>
          </a:xfrm>
          <a:prstGeom xmlns:a="http://schemas.openxmlformats.org/drawingml/2006/main" prst="ellipse">
            <a:avLst/>
          </a:prstGeom>
          <a:solidFill xmlns:a="http://schemas.openxmlformats.org/drawingml/2006/main">
            <a:srgbClr val="000000"/>
          </a:solidFill>
        </p:spPr>
      </p:sp>
      <p:sp>
        <p:nvSpPr>
          <p:cNvPr id="5" name="label-0">
            <a:extLst xmlns:a="http://schemas.openxmlformats.org/drawingml/2006/main">
              <a:ext uri="{FF2B5EF4-FFF2-40B4-BE49-F238E27FC236}">
                <a16:creationId xmlns:a16="http://schemas.microsoft.com/office/drawing/2014/main" id="{DB0EDA65-964C-43B7-9E2B-67CF6688CDB0}"/>
              </a:ext>
            </a:extLst>
          </p:cNvPr>
          <p:cNvSpPr>
            <a:spLocks xmlns:a="http://schemas.openxmlformats.org/drawingml/2006/main" noGrp="1"/>
          </p:cNvSpPr>
          <p:nvPr/>
        </p:nvSpPr>
        <p:spPr>
          <a:xfrm xmlns:a="http://schemas.openxmlformats.org/drawingml/2006/main">
            <a:off x="952500" y="2571750"/>
            <a:ext cx="2286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t>TRAIN</a:t>
            </a:r>
          </a:p>
        </p:txBody>
      </p:sp>
      <p:sp>
        <p:nvSpPr>
          <p:cNvPr id="6" name="date-0">
            <a:extLst xmlns:a="http://schemas.openxmlformats.org/drawingml/2006/main">
              <a:ext uri="{FF2B5EF4-FFF2-40B4-BE49-F238E27FC236}">
                <a16:creationId xmlns:a16="http://schemas.microsoft.com/office/drawing/2014/main" id="{230A25B6-0E18-4E60-A485-939D720334E7}"/>
              </a:ext>
            </a:extLst>
          </p:cNvPr>
          <p:cNvSpPr>
            <a:spLocks xmlns:a="http://schemas.openxmlformats.org/drawingml/2006/main" noGrp="1"/>
          </p:cNvSpPr>
          <p:nvPr/>
        </p:nvSpPr>
        <p:spPr>
          <a:xfrm xmlns:a="http://schemas.openxmlformats.org/drawingml/2006/main">
            <a:off x="952500" y="3714750"/>
            <a:ext cx="24765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2016–2020</a:t>
            </a:r>
          </a:p>
        </p:txBody>
      </p:sp>
      <p:sp>
        <p:nvSpPr>
          <p:cNvPr id="7" name="desc-0">
            <a:extLst xmlns:a="http://schemas.openxmlformats.org/drawingml/2006/main">
              <a:ext uri="{FF2B5EF4-FFF2-40B4-BE49-F238E27FC236}">
                <a16:creationId xmlns:a16="http://schemas.microsoft.com/office/drawing/2014/main" id="{4679CEC7-B439-4E79-BD7D-92F20EAB8077}"/>
              </a:ext>
            </a:extLst>
          </p:cNvPr>
          <p:cNvSpPr>
            <a:spLocks xmlns:a="http://schemas.openxmlformats.org/drawingml/2006/main" noGrp="1"/>
          </p:cNvSpPr>
          <p:nvPr/>
        </p:nvSpPr>
        <p:spPr>
          <a:xfrm xmlns:a="http://schemas.openxmlformats.org/drawingml/2006/main">
            <a:off x="952500" y="4286250"/>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444444"/>
                </a:solidFill>
                <a:latin typeface="Helvetica Neue"/>
                <a:ea typeface="Helvetica Neue"/>
                <a:cs typeface="Helvetica Neue"/>
              </a:defRPr>
            </a:pPr>
            <a:r>
              <a:t>Scale features and estimate risk thresholds</a:t>
            </a:r>
          </a:p>
        </p:txBody>
      </p:sp>
      <p:sp>
        <p:nvSpPr>
          <p:cNvPr id="8" name="dot-1">
            <a:extLst xmlns:a="http://schemas.openxmlformats.org/drawingml/2006/main">
              <a:ext uri="{FF2B5EF4-FFF2-40B4-BE49-F238E27FC236}">
                <a16:creationId xmlns:a16="http://schemas.microsoft.com/office/drawing/2014/main" id="{43BCF821-1C3F-4104-85E9-E0B5497637BA}"/>
              </a:ext>
            </a:extLst>
          </p:cNvPr>
          <p:cNvSpPr>
            <a:spLocks xmlns:a="http://schemas.openxmlformats.org/drawingml/2006/main" noGrp="1"/>
          </p:cNvSpPr>
          <p:nvPr/>
        </p:nvSpPr>
        <p:spPr>
          <a:xfrm xmlns:a="http://schemas.openxmlformats.org/drawingml/2006/main">
            <a:off x="4476750" y="3209925"/>
            <a:ext cx="152400" cy="152400"/>
          </a:xfrm>
          <a:prstGeom xmlns:a="http://schemas.openxmlformats.org/drawingml/2006/main" prst="ellipse">
            <a:avLst/>
          </a:prstGeom>
          <a:solidFill xmlns:a="http://schemas.openxmlformats.org/drawingml/2006/main">
            <a:srgbClr val="000000"/>
          </a:solidFill>
        </p:spPr>
      </p:sp>
      <p:sp>
        <p:nvSpPr>
          <p:cNvPr id="9" name="label-1">
            <a:extLst xmlns:a="http://schemas.openxmlformats.org/drawingml/2006/main">
              <a:ext uri="{FF2B5EF4-FFF2-40B4-BE49-F238E27FC236}">
                <a16:creationId xmlns:a16="http://schemas.microsoft.com/office/drawing/2014/main" id="{70FC3199-E9DE-437E-A01F-6127E1EF26B8}"/>
              </a:ext>
            </a:extLst>
          </p:cNvPr>
          <p:cNvSpPr>
            <a:spLocks xmlns:a="http://schemas.openxmlformats.org/drawingml/2006/main" noGrp="1"/>
          </p:cNvSpPr>
          <p:nvPr/>
        </p:nvSpPr>
        <p:spPr>
          <a:xfrm xmlns:a="http://schemas.openxmlformats.org/drawingml/2006/main">
            <a:off x="4476750" y="2571750"/>
            <a:ext cx="2286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t>VALIDATE</a:t>
            </a:r>
          </a:p>
        </p:txBody>
      </p:sp>
      <p:sp>
        <p:nvSpPr>
          <p:cNvPr id="10" name="date-1">
            <a:extLst xmlns:a="http://schemas.openxmlformats.org/drawingml/2006/main">
              <a:ext uri="{FF2B5EF4-FFF2-40B4-BE49-F238E27FC236}">
                <a16:creationId xmlns:a16="http://schemas.microsoft.com/office/drawing/2014/main" id="{69E49750-5DD3-460B-9AA9-77476863CE66}"/>
              </a:ext>
            </a:extLst>
          </p:cNvPr>
          <p:cNvSpPr>
            <a:spLocks xmlns:a="http://schemas.openxmlformats.org/drawingml/2006/main" noGrp="1"/>
          </p:cNvSpPr>
          <p:nvPr/>
        </p:nvSpPr>
        <p:spPr>
          <a:xfrm xmlns:a="http://schemas.openxmlformats.org/drawingml/2006/main">
            <a:off x="4476750" y="3714750"/>
            <a:ext cx="24765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2020–2022</a:t>
            </a:r>
          </a:p>
        </p:txBody>
      </p:sp>
      <p:sp>
        <p:nvSpPr>
          <p:cNvPr id="11" name="desc-1">
            <a:extLst xmlns:a="http://schemas.openxmlformats.org/drawingml/2006/main">
              <a:ext uri="{FF2B5EF4-FFF2-40B4-BE49-F238E27FC236}">
                <a16:creationId xmlns:a16="http://schemas.microsoft.com/office/drawing/2014/main" id="{2C4FF713-DC2E-47B3-A790-B54EE652ABD3}"/>
              </a:ext>
            </a:extLst>
          </p:cNvPr>
          <p:cNvSpPr>
            <a:spLocks xmlns:a="http://schemas.openxmlformats.org/drawingml/2006/main" noGrp="1"/>
          </p:cNvSpPr>
          <p:nvPr/>
        </p:nvSpPr>
        <p:spPr>
          <a:xfrm xmlns:a="http://schemas.openxmlformats.org/drawingml/2006/main">
            <a:off x="4476750" y="4286250"/>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444444"/>
                </a:solidFill>
                <a:latin typeface="Helvetica Neue"/>
                <a:ea typeface="Helvetica Neue"/>
                <a:cs typeface="Helvetica Neue"/>
              </a:defRPr>
            </a:pPr>
            <a:r>
              <a:t>Choose one of three predeclared MSA settings</a:t>
            </a:r>
          </a:p>
        </p:txBody>
      </p:sp>
      <p:sp>
        <p:nvSpPr>
          <p:cNvPr id="12" name="dot-2">
            <a:extLst xmlns:a="http://schemas.openxmlformats.org/drawingml/2006/main">
              <a:ext uri="{FF2B5EF4-FFF2-40B4-BE49-F238E27FC236}">
                <a16:creationId xmlns:a16="http://schemas.microsoft.com/office/drawing/2014/main" id="{9D91A44D-8421-4EB4-860A-FCFD060EAC17}"/>
              </a:ext>
            </a:extLst>
          </p:cNvPr>
          <p:cNvSpPr>
            <a:spLocks xmlns:a="http://schemas.openxmlformats.org/drawingml/2006/main" noGrp="1"/>
          </p:cNvSpPr>
          <p:nvPr/>
        </p:nvSpPr>
        <p:spPr>
          <a:xfrm xmlns:a="http://schemas.openxmlformats.org/drawingml/2006/main">
            <a:off x="8001000" y="3209925"/>
            <a:ext cx="152400" cy="152400"/>
          </a:xfrm>
          <a:prstGeom xmlns:a="http://schemas.openxmlformats.org/drawingml/2006/main" prst="ellipse">
            <a:avLst/>
          </a:prstGeom>
          <a:solidFill xmlns:a="http://schemas.openxmlformats.org/drawingml/2006/main">
            <a:srgbClr val="3D8DFF"/>
          </a:solidFill>
        </p:spPr>
      </p:sp>
      <p:sp>
        <p:nvSpPr>
          <p:cNvPr id="13" name="label-2">
            <a:extLst xmlns:a="http://schemas.openxmlformats.org/drawingml/2006/main">
              <a:ext uri="{FF2B5EF4-FFF2-40B4-BE49-F238E27FC236}">
                <a16:creationId xmlns:a16="http://schemas.microsoft.com/office/drawing/2014/main" id="{9CE2A5E5-2B99-461D-868B-315F14B1A501}"/>
              </a:ext>
            </a:extLst>
          </p:cNvPr>
          <p:cNvSpPr>
            <a:spLocks xmlns:a="http://schemas.openxmlformats.org/drawingml/2006/main" noGrp="1"/>
          </p:cNvSpPr>
          <p:nvPr/>
        </p:nvSpPr>
        <p:spPr>
          <a:xfrm xmlns:a="http://schemas.openxmlformats.org/drawingml/2006/main">
            <a:off x="8001000" y="2571750"/>
            <a:ext cx="2286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TEST ONCE</a:t>
            </a:r>
          </a:p>
        </p:txBody>
      </p:sp>
      <p:sp>
        <p:nvSpPr>
          <p:cNvPr id="14" name="date-2">
            <a:extLst xmlns:a="http://schemas.openxmlformats.org/drawingml/2006/main">
              <a:ext uri="{FF2B5EF4-FFF2-40B4-BE49-F238E27FC236}">
                <a16:creationId xmlns:a16="http://schemas.microsoft.com/office/drawing/2014/main" id="{350AD7D8-D0D4-47ED-9658-16744A7445A3}"/>
              </a:ext>
            </a:extLst>
          </p:cNvPr>
          <p:cNvSpPr>
            <a:spLocks xmlns:a="http://schemas.openxmlformats.org/drawingml/2006/main" noGrp="1"/>
          </p:cNvSpPr>
          <p:nvPr/>
        </p:nvSpPr>
        <p:spPr>
          <a:xfrm xmlns:a="http://schemas.openxmlformats.org/drawingml/2006/main">
            <a:off x="8001000" y="3714750"/>
            <a:ext cx="24765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2022–2024</a:t>
            </a:r>
          </a:p>
        </p:txBody>
      </p:sp>
      <p:sp>
        <p:nvSpPr>
          <p:cNvPr id="15" name="desc-2">
            <a:extLst xmlns:a="http://schemas.openxmlformats.org/drawingml/2006/main">
              <a:ext uri="{FF2B5EF4-FFF2-40B4-BE49-F238E27FC236}">
                <a16:creationId xmlns:a16="http://schemas.microsoft.com/office/drawing/2014/main" id="{52A2142B-3B0C-437B-B741-4B334204F60A}"/>
              </a:ext>
            </a:extLst>
          </p:cNvPr>
          <p:cNvSpPr>
            <a:spLocks xmlns:a="http://schemas.openxmlformats.org/drawingml/2006/main" noGrp="1"/>
          </p:cNvSpPr>
          <p:nvPr/>
        </p:nvSpPr>
        <p:spPr>
          <a:xfrm xmlns:a="http://schemas.openxmlformats.org/drawingml/2006/main">
            <a:off x="8001000" y="4286250"/>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444444"/>
                </a:solidFill>
                <a:latin typeface="Helvetica Neue"/>
                <a:ea typeface="Helvetica Neue"/>
                <a:cs typeface="Helvetica Neue"/>
              </a:defRPr>
            </a:pPr>
            <a:r>
              <a:t>Compare 1,149 contracts per strategy</a:t>
            </a:r>
          </a:p>
        </p:txBody>
      </p:sp>
    </p:spTree>
    <p:extLst>
      <p:ext uri="{BB962C8B-B14F-4D97-AF65-F5344CB8AC3E}">
        <p14:creationId xmlns:p14="http://schemas.microsoft.com/office/powerpoint/2010/main" val="4158519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DA9819ED-BD74-4FBA-8042-1F0D9552DBAE}"/>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No single hedge wins on every error metric</a:t>
            </a:r>
          </a:p>
        </p:txBody>
      </p:sp>
      <p:sp>
        <p:nvSpPr>
          <p:cNvPr id="2" name="slide-number">
            <a:extLst xmlns:a="http://schemas.openxmlformats.org/drawingml/2006/main">
              <a:ext uri="{FF2B5EF4-FFF2-40B4-BE49-F238E27FC236}">
                <a16:creationId xmlns:a16="http://schemas.microsoft.com/office/drawing/2014/main" id="{7EC9A80E-589B-40E8-A9CF-818F92C4E195}"/>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3" name="mae-callout">
            <a:extLst xmlns:a="http://schemas.openxmlformats.org/drawingml/2006/main">
              <a:ext uri="{FF2B5EF4-FFF2-40B4-BE49-F238E27FC236}">
                <a16:creationId xmlns:a16="http://schemas.microsoft.com/office/drawing/2014/main" id="{B4D80624-F1DE-4678-A55B-DFCCF1326861}"/>
              </a:ext>
            </a:extLst>
          </p:cNvPr>
          <p:cNvSpPr>
            <a:spLocks xmlns:a="http://schemas.openxmlformats.org/drawingml/2006/main" noGrp="1"/>
          </p:cNvSpPr>
          <p:nvPr/>
        </p:nvSpPr>
        <p:spPr>
          <a:xfrm xmlns:a="http://schemas.openxmlformats.org/drawingml/2006/main">
            <a:off x="6572250" y="1619250"/>
            <a:ext cx="4762500" cy="1190625"/>
          </a:xfrm>
          <a:prstGeom xmlns:a="http://schemas.openxmlformats.org/drawingml/2006/main" prst="roundRect">
            <a:avLst>
              <a:gd name="adj" fmla="val 6400"/>
            </a:avLst>
          </a:prstGeom>
          <a:solidFill xmlns:a="http://schemas.openxmlformats.org/drawingml/2006/main">
            <a:srgbClr val="F2F2F2"/>
          </a:solidFill>
          <a:ln xmlns:a="http://schemas.openxmlformats.org/drawingml/2006/main" w="0">
            <a:solidFill>
              <a:srgbClr val="F2F2F2"/>
            </a:solidFill>
            <a:prstDash val="solid"/>
          </a:ln>
        </p:spPr>
      </p:sp>
      <p:sp>
        <p:nvSpPr>
          <p:cNvPr id="4" name="mae-stat">
            <a:extLst xmlns:a="http://schemas.openxmlformats.org/drawingml/2006/main">
              <a:ext uri="{FF2B5EF4-FFF2-40B4-BE49-F238E27FC236}">
                <a16:creationId xmlns:a16="http://schemas.microsoft.com/office/drawing/2014/main" id="{ED9D607B-CEE5-472B-92D2-3F800E75CB60}"/>
              </a:ext>
            </a:extLst>
          </p:cNvPr>
          <p:cNvSpPr>
            <a:spLocks xmlns:a="http://schemas.openxmlformats.org/drawingml/2006/main" noGrp="1"/>
          </p:cNvSpPr>
          <p:nvPr/>
        </p:nvSpPr>
        <p:spPr>
          <a:xfrm xmlns:a="http://schemas.openxmlformats.org/drawingml/2006/main">
            <a:off x="6858000" y="1809750"/>
            <a:ext cx="14287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t>1.552</a:t>
            </a:r>
          </a:p>
        </p:txBody>
      </p:sp>
      <p:sp>
        <p:nvSpPr>
          <p:cNvPr id="5" name="mae-copy">
            <a:extLst xmlns:a="http://schemas.openxmlformats.org/drawingml/2006/main">
              <a:ext uri="{FF2B5EF4-FFF2-40B4-BE49-F238E27FC236}">
                <a16:creationId xmlns:a16="http://schemas.microsoft.com/office/drawing/2014/main" id="{288592F7-26C1-4E4E-A768-8E03EAEC59C6}"/>
              </a:ext>
            </a:extLst>
          </p:cNvPr>
          <p:cNvSpPr>
            <a:spLocks xmlns:a="http://schemas.openxmlformats.org/drawingml/2006/main" noGrp="1"/>
          </p:cNvSpPr>
          <p:nvPr/>
        </p:nvSpPr>
        <p:spPr>
          <a:xfrm xmlns:a="http://schemas.openxmlformats.org/drawingml/2006/main">
            <a:off x="8334375" y="1885950"/>
            <a:ext cx="2619375"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FV-BS has the lowest MAE</a:t>
            </a:r>
          </a:p>
        </p:txBody>
      </p:sp>
      <p:sp>
        <p:nvSpPr>
          <p:cNvPr id="6" name="rmse-callout">
            <a:extLst xmlns:a="http://schemas.openxmlformats.org/drawingml/2006/main">
              <a:ext uri="{FF2B5EF4-FFF2-40B4-BE49-F238E27FC236}">
                <a16:creationId xmlns:a16="http://schemas.microsoft.com/office/drawing/2014/main" id="{B10EAE58-5A9F-4532-9CF9-F3001497DCC3}"/>
              </a:ext>
            </a:extLst>
          </p:cNvPr>
          <p:cNvSpPr>
            <a:spLocks xmlns:a="http://schemas.openxmlformats.org/drawingml/2006/main" noGrp="1"/>
          </p:cNvSpPr>
          <p:nvPr/>
        </p:nvSpPr>
        <p:spPr>
          <a:xfrm xmlns:a="http://schemas.openxmlformats.org/drawingml/2006/main">
            <a:off x="6572250" y="3095625"/>
            <a:ext cx="4762500" cy="1190625"/>
          </a:xfrm>
          <a:prstGeom xmlns:a="http://schemas.openxmlformats.org/drawingml/2006/main" prst="roundRect">
            <a:avLst>
              <a:gd name="adj" fmla="val 6400"/>
            </a:avLst>
          </a:prstGeom>
          <a:solidFill xmlns:a="http://schemas.openxmlformats.org/drawingml/2006/main">
            <a:srgbClr val="EAF5FB"/>
          </a:solidFill>
          <a:ln xmlns:a="http://schemas.openxmlformats.org/drawingml/2006/main" w="0">
            <a:solidFill>
              <a:srgbClr val="EAF5FB"/>
            </a:solidFill>
            <a:prstDash val="solid"/>
          </a:ln>
        </p:spPr>
      </p:sp>
      <p:sp>
        <p:nvSpPr>
          <p:cNvPr id="7" name="rmse-stat">
            <a:extLst xmlns:a="http://schemas.openxmlformats.org/drawingml/2006/main">
              <a:ext uri="{FF2B5EF4-FFF2-40B4-BE49-F238E27FC236}">
                <a16:creationId xmlns:a16="http://schemas.microsoft.com/office/drawing/2014/main" id="{A3BCBE6A-9228-4FF2-91E8-7C099BB4AD8D}"/>
              </a:ext>
            </a:extLst>
          </p:cNvPr>
          <p:cNvSpPr>
            <a:spLocks xmlns:a="http://schemas.openxmlformats.org/drawingml/2006/main" noGrp="1"/>
          </p:cNvSpPr>
          <p:nvPr/>
        </p:nvSpPr>
        <p:spPr>
          <a:xfrm xmlns:a="http://schemas.openxmlformats.org/drawingml/2006/main">
            <a:off x="6858000" y="3286125"/>
            <a:ext cx="14287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3D8DFF"/>
                </a:solidFill>
                <a:latin typeface="Helvetica Neue"/>
                <a:ea typeface="Helvetica Neue"/>
                <a:cs typeface="Helvetica Neue"/>
              </a:defRPr>
            </a:pPr>
            <a:r>
              <a:t>2.399</a:t>
            </a:r>
          </a:p>
        </p:txBody>
      </p:sp>
      <p:sp>
        <p:nvSpPr>
          <p:cNvPr id="8" name="rmse-copy">
            <a:extLst xmlns:a="http://schemas.openxmlformats.org/drawingml/2006/main">
              <a:ext uri="{FF2B5EF4-FFF2-40B4-BE49-F238E27FC236}">
                <a16:creationId xmlns:a16="http://schemas.microsoft.com/office/drawing/2014/main" id="{25856CAF-9135-48F3-B409-77DA51F6A50B}"/>
              </a:ext>
            </a:extLst>
          </p:cNvPr>
          <p:cNvSpPr>
            <a:spLocks xmlns:a="http://schemas.openxmlformats.org/drawingml/2006/main" noGrp="1"/>
          </p:cNvSpPr>
          <p:nvPr/>
        </p:nvSpPr>
        <p:spPr>
          <a:xfrm xmlns:a="http://schemas.openxmlformats.org/drawingml/2006/main">
            <a:off x="8334375" y="3362325"/>
            <a:ext cx="2714625"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VIX-BS has the lowest RMSE</a:t>
            </a:r>
          </a:p>
        </p:txBody>
      </p:sp>
      <p:sp>
        <p:nvSpPr>
          <p:cNvPr id="9" name="meaning">
            <a:extLst xmlns:a="http://schemas.openxmlformats.org/drawingml/2006/main">
              <a:ext uri="{FF2B5EF4-FFF2-40B4-BE49-F238E27FC236}">
                <a16:creationId xmlns:a16="http://schemas.microsoft.com/office/drawing/2014/main" id="{6BB83F0B-058E-4F01-B0A8-EB1A933842E4}"/>
              </a:ext>
            </a:extLst>
          </p:cNvPr>
          <p:cNvSpPr>
            <a:spLocks xmlns:a="http://schemas.openxmlformats.org/drawingml/2006/main" noGrp="1"/>
          </p:cNvSpPr>
          <p:nvPr/>
        </p:nvSpPr>
        <p:spPr>
          <a:xfrm xmlns:a="http://schemas.openxmlformats.org/drawingml/2006/main">
            <a:off x="6572250" y="4714875"/>
            <a:ext cx="4762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t>Average accuracy favors simplicity; large-error control favors forward-looking volatility.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30e4bb06d4e4c35"/>
          <a:stretch xmlns:a="http://schemas.openxmlformats.org/drawingml/2006/main"/>
        </p:blipFill>
        <p:spPr>
          <a:xfrm xmlns:a="http://schemas.openxmlformats.org/drawingml/2006/main">
            <a:off x="428625" y="2524125"/>
            <a:ext cx="5572125" cy="2476500"/>
          </a:xfrm>
          <a:prstGeom xmlns:a="http://schemas.openxmlformats.org/drawingml/2006/main" prst="rect">
            <a:avLst/>
          </a:prstGeom>
        </p:spPr>
      </p:pic>
    </p:spTree>
    <p:extLst>
      <p:ext uri="{BB962C8B-B14F-4D97-AF65-F5344CB8AC3E}">
        <p14:creationId xmlns:p14="http://schemas.microsoft.com/office/powerpoint/2010/main" val="3150364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0B1900E-1A17-4BE1-A8F8-C4225A8CD572}"/>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VIX helps most where losses are largest</a:t>
            </a:r>
          </a:p>
        </p:txBody>
      </p:sp>
      <p:sp>
        <p:nvSpPr>
          <p:cNvPr id="2" name="slide-number">
            <a:extLst xmlns:a="http://schemas.openxmlformats.org/drawingml/2006/main">
              <a:ext uri="{FF2B5EF4-FFF2-40B4-BE49-F238E27FC236}">
                <a16:creationId xmlns:a16="http://schemas.microsoft.com/office/drawing/2014/main" id="{9415D227-5BFD-4D30-A2BE-557D52AAAD86}"/>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3" name="tail-stat">
            <a:extLst xmlns:a="http://schemas.openxmlformats.org/drawingml/2006/main">
              <a:ext uri="{FF2B5EF4-FFF2-40B4-BE49-F238E27FC236}">
                <a16:creationId xmlns:a16="http://schemas.microsoft.com/office/drawing/2014/main" id="{38F14EF6-DCD3-40CB-B458-FDB2EB7FA1B3}"/>
              </a:ext>
            </a:extLst>
          </p:cNvPr>
          <p:cNvSpPr>
            <a:spLocks xmlns:a="http://schemas.openxmlformats.org/drawingml/2006/main" noGrp="1"/>
          </p:cNvSpPr>
          <p:nvPr/>
        </p:nvSpPr>
        <p:spPr>
          <a:xfrm xmlns:a="http://schemas.openxmlformats.org/drawingml/2006/main">
            <a:off x="523875" y="1714500"/>
            <a:ext cx="2095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00" b="1">
                <a:solidFill>
                  <a:srgbClr val="3D8DFF"/>
                </a:solidFill>
                <a:latin typeface="Helvetica Neue"/>
                <a:ea typeface="Helvetica Neue"/>
                <a:cs typeface="Helvetica Neue"/>
              </a:defRPr>
            </a:pPr>
            <a:r>
              <a:t>5.52</a:t>
            </a:r>
          </a:p>
        </p:txBody>
      </p:sp>
      <p:sp>
        <p:nvSpPr>
          <p:cNvPr id="4" name="tail-label">
            <a:extLst xmlns:a="http://schemas.openxmlformats.org/drawingml/2006/main">
              <a:ext uri="{FF2B5EF4-FFF2-40B4-BE49-F238E27FC236}">
                <a16:creationId xmlns:a16="http://schemas.microsoft.com/office/drawing/2014/main" id="{196EA201-C3FF-4C71-BBAA-130E43B45B20}"/>
              </a:ext>
            </a:extLst>
          </p:cNvPr>
          <p:cNvSpPr>
            <a:spLocks xmlns:a="http://schemas.openxmlformats.org/drawingml/2006/main" noGrp="1"/>
          </p:cNvSpPr>
          <p:nvPr/>
        </p:nvSpPr>
        <p:spPr>
          <a:xfrm xmlns:a="http://schemas.openxmlformats.org/drawingml/2006/main">
            <a:off x="523875" y="2667000"/>
            <a:ext cx="40005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VIX-BS 95% loss expected shortfall</a:t>
            </a:r>
          </a:p>
        </p:txBody>
      </p:sp>
      <p:sp>
        <p:nvSpPr>
          <p:cNvPr id="5" name="baseline-stat">
            <a:extLst xmlns:a="http://schemas.openxmlformats.org/drawingml/2006/main">
              <a:ext uri="{FF2B5EF4-FFF2-40B4-BE49-F238E27FC236}">
                <a16:creationId xmlns:a16="http://schemas.microsoft.com/office/drawing/2014/main" id="{1B4FA62A-7C3C-489F-882E-9AC04F54DC33}"/>
              </a:ext>
            </a:extLst>
          </p:cNvPr>
          <p:cNvSpPr>
            <a:spLocks xmlns:a="http://schemas.openxmlformats.org/drawingml/2006/main" noGrp="1"/>
          </p:cNvSpPr>
          <p:nvPr/>
        </p:nvSpPr>
        <p:spPr>
          <a:xfrm xmlns:a="http://schemas.openxmlformats.org/drawingml/2006/main">
            <a:off x="523875" y="3905250"/>
            <a:ext cx="2095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00" b="1">
                <a:solidFill>
                  <a:srgbClr val="000000"/>
                </a:solidFill>
                <a:latin typeface="Helvetica Neue"/>
                <a:ea typeface="Helvetica Neue"/>
                <a:cs typeface="Helvetica Neue"/>
              </a:defRPr>
            </a:pPr>
            <a:r>
              <a:t>6.75</a:t>
            </a:r>
          </a:p>
        </p:txBody>
      </p:sp>
      <p:sp>
        <p:nvSpPr>
          <p:cNvPr id="6" name="baseline-label">
            <a:extLst xmlns:a="http://schemas.openxmlformats.org/drawingml/2006/main">
              <a:ext uri="{FF2B5EF4-FFF2-40B4-BE49-F238E27FC236}">
                <a16:creationId xmlns:a16="http://schemas.microsoft.com/office/drawing/2014/main" id="{6597179D-C6DE-492F-9958-32926D41E807}"/>
              </a:ext>
            </a:extLst>
          </p:cNvPr>
          <p:cNvSpPr>
            <a:spLocks xmlns:a="http://schemas.openxmlformats.org/drawingml/2006/main" noGrp="1"/>
          </p:cNvSpPr>
          <p:nvPr/>
        </p:nvSpPr>
        <p:spPr>
          <a:xfrm xmlns:a="http://schemas.openxmlformats.org/drawingml/2006/main">
            <a:off x="523875" y="4857750"/>
            <a:ext cx="40005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FV-BS 95% loss expected shortfall</a:t>
            </a:r>
          </a:p>
        </p:txBody>
      </p:sp>
      <p:sp>
        <p:nvSpPr>
          <p:cNvPr id="7" name="bootstrap-panel">
            <a:extLst xmlns:a="http://schemas.openxmlformats.org/drawingml/2006/main">
              <a:ext uri="{FF2B5EF4-FFF2-40B4-BE49-F238E27FC236}">
                <a16:creationId xmlns:a16="http://schemas.microsoft.com/office/drawing/2014/main" id="{69FEAACA-DD25-4F8F-8337-B74B78D57C5F}"/>
              </a:ext>
            </a:extLst>
          </p:cNvPr>
          <p:cNvSpPr>
            <a:spLocks xmlns:a="http://schemas.openxmlformats.org/drawingml/2006/main" noGrp="1"/>
          </p:cNvSpPr>
          <p:nvPr/>
        </p:nvSpPr>
        <p:spPr>
          <a:xfrm xmlns:a="http://schemas.openxmlformats.org/drawingml/2006/main">
            <a:off x="5238750" y="1571625"/>
            <a:ext cx="6191250" cy="3905250"/>
          </a:xfrm>
          <a:prstGeom xmlns:a="http://schemas.openxmlformats.org/drawingml/2006/main" prst="roundRect">
            <a:avLst>
              <a:gd name="adj" fmla="val 1951"/>
            </a:avLst>
          </a:prstGeom>
          <a:solidFill xmlns:a="http://schemas.openxmlformats.org/drawingml/2006/main">
            <a:srgbClr val="F2F2F2"/>
          </a:solidFill>
          <a:ln xmlns:a="http://schemas.openxmlformats.org/drawingml/2006/main" w="0">
            <a:solidFill>
              <a:srgbClr val="F2F2F2"/>
            </a:solidFill>
            <a:prstDash val="solid"/>
          </a:ln>
        </p:spPr>
      </p:sp>
      <p:sp>
        <p:nvSpPr>
          <p:cNvPr id="8" name="bootstrap-title">
            <a:extLst xmlns:a="http://schemas.openxmlformats.org/drawingml/2006/main">
              <a:ext uri="{FF2B5EF4-FFF2-40B4-BE49-F238E27FC236}">
                <a16:creationId xmlns:a16="http://schemas.microsoft.com/office/drawing/2014/main" id="{133AA91F-FDFB-4AF7-B3A4-FA5E9C3A49DD}"/>
              </a:ext>
            </a:extLst>
          </p:cNvPr>
          <p:cNvSpPr>
            <a:spLocks xmlns:a="http://schemas.openxmlformats.org/drawingml/2006/main" noGrp="1"/>
          </p:cNvSpPr>
          <p:nvPr/>
        </p:nvSpPr>
        <p:spPr>
          <a:xfrm xmlns:a="http://schemas.openxmlformats.org/drawingml/2006/main">
            <a:off x="5619750" y="1809750"/>
            <a:ext cx="542925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Paired MAE improvement over FV-BS</a:t>
            </a:r>
          </a:p>
        </p:txBody>
      </p:sp>
      <p:sp>
        <p:nvSpPr>
          <p:cNvPr id="9" name="sign-note">
            <a:extLst xmlns:a="http://schemas.openxmlformats.org/drawingml/2006/main">
              <a:ext uri="{FF2B5EF4-FFF2-40B4-BE49-F238E27FC236}">
                <a16:creationId xmlns:a16="http://schemas.microsoft.com/office/drawing/2014/main" id="{592A67B5-AE65-4B78-A73F-4F4D543ECA21}"/>
              </a:ext>
            </a:extLst>
          </p:cNvPr>
          <p:cNvSpPr>
            <a:spLocks xmlns:a="http://schemas.openxmlformats.org/drawingml/2006/main" noGrp="1"/>
          </p:cNvSpPr>
          <p:nvPr/>
        </p:nvSpPr>
        <p:spPr>
          <a:xfrm xmlns:a="http://schemas.openxmlformats.org/drawingml/2006/main">
            <a:off x="5238750" y="5810250"/>
            <a:ext cx="6191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555555"/>
                </a:solidFill>
                <a:latin typeface="Helvetica Neue"/>
                <a:ea typeface="Helvetica Neue"/>
                <a:cs typeface="Helvetica Neue"/>
              </a:defRPr>
            </a:pPr>
            <a:r>
              <a:t>Positive would favor the strategy · 95% moving-block bootstrap CI</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d5b4099636a4878"/>
          <a:stretch xmlns:a="http://schemas.openxmlformats.org/drawingml/2006/main"/>
        </p:blipFill>
        <p:spPr>
          <a:xfrm xmlns:a="http://schemas.openxmlformats.org/drawingml/2006/main">
            <a:off x="5524500" y="2428875"/>
            <a:ext cx="5619750" cy="2809875"/>
          </a:xfrm>
          <a:prstGeom xmlns:a="http://schemas.openxmlformats.org/drawingml/2006/main" prst="rect">
            <a:avLst/>
          </a:prstGeom>
        </p:spPr>
      </p:pic>
    </p:spTree>
    <p:extLst>
      <p:ext uri="{BB962C8B-B14F-4D97-AF65-F5344CB8AC3E}">
        <p14:creationId xmlns:p14="http://schemas.microsoft.com/office/powerpoint/2010/main" val="19702620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1735555-F07A-41E2-A945-330491EA4D83}"/>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ranking survives reasonable transaction-cost changes</a:t>
            </a:r>
          </a:p>
        </p:txBody>
      </p:sp>
      <p:sp>
        <p:nvSpPr>
          <p:cNvPr id="2" name="slide-number">
            <a:extLst xmlns:a="http://schemas.openxmlformats.org/drawingml/2006/main">
              <a:ext uri="{FF2B5EF4-FFF2-40B4-BE49-F238E27FC236}">
                <a16:creationId xmlns:a16="http://schemas.microsoft.com/office/drawing/2014/main" id="{F7A8F05E-B803-423E-8D0D-97598BDBA55F}"/>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3" name="cost-head">
            <a:extLst xmlns:a="http://schemas.openxmlformats.org/drawingml/2006/main">
              <a:ext uri="{FF2B5EF4-FFF2-40B4-BE49-F238E27FC236}">
                <a16:creationId xmlns:a16="http://schemas.microsoft.com/office/drawing/2014/main" id="{D66C0CE7-3EB3-4334-AED7-3E2EF9170FED}"/>
              </a:ext>
            </a:extLst>
          </p:cNvPr>
          <p:cNvSpPr>
            <a:spLocks xmlns:a="http://schemas.openxmlformats.org/drawingml/2006/main" noGrp="1"/>
          </p:cNvSpPr>
          <p:nvPr/>
        </p:nvSpPr>
        <p:spPr>
          <a:xfrm xmlns:a="http://schemas.openxmlformats.org/drawingml/2006/main">
            <a:off x="400050" y="1571625"/>
            <a:ext cx="2476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TRANSACTION COST</a:t>
            </a:r>
          </a:p>
        </p:txBody>
      </p:sp>
      <p:sp>
        <p:nvSpPr>
          <p:cNvPr id="4" name="cost-values">
            <a:extLst xmlns:a="http://schemas.openxmlformats.org/drawingml/2006/main">
              <a:ext uri="{FF2B5EF4-FFF2-40B4-BE49-F238E27FC236}">
                <a16:creationId xmlns:a16="http://schemas.microsoft.com/office/drawing/2014/main" id="{CEB7F813-4C70-49F4-B8D8-B07CDF8A9A51}"/>
              </a:ext>
            </a:extLst>
          </p:cNvPr>
          <p:cNvSpPr>
            <a:spLocks xmlns:a="http://schemas.openxmlformats.org/drawingml/2006/main" noGrp="1"/>
          </p:cNvSpPr>
          <p:nvPr/>
        </p:nvSpPr>
        <p:spPr>
          <a:xfrm xmlns:a="http://schemas.openxmlformats.org/drawingml/2006/main">
            <a:off x="400050" y="2095500"/>
            <a:ext cx="209550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0 bps
5 bps
10 bps</a:t>
            </a:r>
          </a:p>
        </p:txBody>
      </p:sp>
      <p:sp>
        <p:nvSpPr>
          <p:cNvPr id="5" name="mae-head">
            <a:extLst xmlns:a="http://schemas.openxmlformats.org/drawingml/2006/main">
              <a:ext uri="{FF2B5EF4-FFF2-40B4-BE49-F238E27FC236}">
                <a16:creationId xmlns:a16="http://schemas.microsoft.com/office/drawing/2014/main" id="{08313C7C-A601-4F38-A3CA-808E935F0F36}"/>
              </a:ext>
            </a:extLst>
          </p:cNvPr>
          <p:cNvSpPr>
            <a:spLocks xmlns:a="http://schemas.openxmlformats.org/drawingml/2006/main" noGrp="1"/>
          </p:cNvSpPr>
          <p:nvPr/>
        </p:nvSpPr>
        <p:spPr>
          <a:xfrm xmlns:a="http://schemas.openxmlformats.org/drawingml/2006/main">
            <a:off x="3095625" y="1571625"/>
            <a:ext cx="2476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LOWEST MAE</a:t>
            </a:r>
          </a:p>
        </p:txBody>
      </p:sp>
      <p:sp>
        <p:nvSpPr>
          <p:cNvPr id="6" name="mae-values">
            <a:extLst xmlns:a="http://schemas.openxmlformats.org/drawingml/2006/main">
              <a:ext uri="{FF2B5EF4-FFF2-40B4-BE49-F238E27FC236}">
                <a16:creationId xmlns:a16="http://schemas.microsoft.com/office/drawing/2014/main" id="{610B092E-D532-4E36-859E-4E0362B2F75B}"/>
              </a:ext>
            </a:extLst>
          </p:cNvPr>
          <p:cNvSpPr>
            <a:spLocks xmlns:a="http://schemas.openxmlformats.org/drawingml/2006/main" noGrp="1"/>
          </p:cNvSpPr>
          <p:nvPr/>
        </p:nvSpPr>
        <p:spPr>
          <a:xfrm xmlns:a="http://schemas.openxmlformats.org/drawingml/2006/main">
            <a:off x="3095625" y="2095500"/>
            <a:ext cx="285750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FV-BS  1.456
FV-BS  1.552
FV-BS  1.745</a:t>
            </a:r>
          </a:p>
        </p:txBody>
      </p:sp>
      <p:sp>
        <p:nvSpPr>
          <p:cNvPr id="7" name="rmse-head">
            <a:extLst xmlns:a="http://schemas.openxmlformats.org/drawingml/2006/main">
              <a:ext uri="{FF2B5EF4-FFF2-40B4-BE49-F238E27FC236}">
                <a16:creationId xmlns:a16="http://schemas.microsoft.com/office/drawing/2014/main" id="{D7E0844B-A17E-4793-8A16-5115C4BE44D9}"/>
              </a:ext>
            </a:extLst>
          </p:cNvPr>
          <p:cNvSpPr>
            <a:spLocks xmlns:a="http://schemas.openxmlformats.org/drawingml/2006/main" noGrp="1"/>
          </p:cNvSpPr>
          <p:nvPr/>
        </p:nvSpPr>
        <p:spPr>
          <a:xfrm xmlns:a="http://schemas.openxmlformats.org/drawingml/2006/main">
            <a:off x="6334125" y="1571625"/>
            <a:ext cx="2476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LOWEST RMSE</a:t>
            </a:r>
          </a:p>
        </p:txBody>
      </p:sp>
      <p:sp>
        <p:nvSpPr>
          <p:cNvPr id="8" name="rmse-values">
            <a:extLst xmlns:a="http://schemas.openxmlformats.org/drawingml/2006/main">
              <a:ext uri="{FF2B5EF4-FFF2-40B4-BE49-F238E27FC236}">
                <a16:creationId xmlns:a16="http://schemas.microsoft.com/office/drawing/2014/main" id="{55271A89-5DD5-4074-865F-84B8926F92D9}"/>
              </a:ext>
            </a:extLst>
          </p:cNvPr>
          <p:cNvSpPr>
            <a:spLocks xmlns:a="http://schemas.openxmlformats.org/drawingml/2006/main" noGrp="1"/>
          </p:cNvSpPr>
          <p:nvPr/>
        </p:nvSpPr>
        <p:spPr>
          <a:xfrm xmlns:a="http://schemas.openxmlformats.org/drawingml/2006/main">
            <a:off x="6334125" y="2095500"/>
            <a:ext cx="3048000" cy="2476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VIX-BS  2.394
VIX-BS  2.399
VIX-BS  2.510</a:t>
            </a:r>
          </a:p>
        </p:txBody>
      </p:sp>
      <p:sp>
        <p:nvSpPr>
          <p:cNvPr id="9" name="robustness-callout">
            <a:extLst xmlns:a="http://schemas.openxmlformats.org/drawingml/2006/main">
              <a:ext uri="{FF2B5EF4-FFF2-40B4-BE49-F238E27FC236}">
                <a16:creationId xmlns:a16="http://schemas.microsoft.com/office/drawing/2014/main" id="{06885129-E1CE-4C3E-B8BF-133BAD5649F0}"/>
              </a:ext>
            </a:extLst>
          </p:cNvPr>
          <p:cNvSpPr>
            <a:spLocks xmlns:a="http://schemas.openxmlformats.org/drawingml/2006/main" noGrp="1"/>
          </p:cNvSpPr>
          <p:nvPr/>
        </p:nvSpPr>
        <p:spPr>
          <a:xfrm xmlns:a="http://schemas.openxmlformats.org/drawingml/2006/main">
            <a:off x="9477375" y="1666875"/>
            <a:ext cx="2286000" cy="3095625"/>
          </a:xfrm>
          <a:prstGeom xmlns:a="http://schemas.openxmlformats.org/drawingml/2006/main" prst="roundRect">
            <a:avLst>
              <a:gd name="adj" fmla="val 3333"/>
            </a:avLst>
          </a:prstGeom>
          <a:solidFill xmlns:a="http://schemas.openxmlformats.org/drawingml/2006/main">
            <a:srgbClr val="EAF5FB"/>
          </a:solidFill>
          <a:ln xmlns:a="http://schemas.openxmlformats.org/drawingml/2006/main" w="0">
            <a:solidFill>
              <a:srgbClr val="EAF5FB"/>
            </a:solidFill>
            <a:prstDash val="solid"/>
          </a:ln>
        </p:spPr>
      </p:sp>
      <p:sp>
        <p:nvSpPr>
          <p:cNvPr id="10" name="robustness-callout-title">
            <a:extLst xmlns:a="http://schemas.openxmlformats.org/drawingml/2006/main">
              <a:ext uri="{FF2B5EF4-FFF2-40B4-BE49-F238E27FC236}">
                <a16:creationId xmlns:a16="http://schemas.microsoft.com/office/drawing/2014/main" id="{A0C54013-8270-42D6-B159-7E1722C86A83}"/>
              </a:ext>
            </a:extLst>
          </p:cNvPr>
          <p:cNvSpPr>
            <a:spLocks xmlns:a="http://schemas.openxmlformats.org/drawingml/2006/main" noGrp="1"/>
          </p:cNvSpPr>
          <p:nvPr/>
        </p:nvSpPr>
        <p:spPr>
          <a:xfrm xmlns:a="http://schemas.openxmlformats.org/drawingml/2006/main">
            <a:off x="9715500" y="1952625"/>
            <a:ext cx="1809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t>Interpretation</a:t>
            </a:r>
          </a:p>
        </p:txBody>
      </p:sp>
      <p:sp>
        <p:nvSpPr>
          <p:cNvPr id="11" name="robustness-callout-copy">
            <a:extLst xmlns:a="http://schemas.openxmlformats.org/drawingml/2006/main">
              <a:ext uri="{FF2B5EF4-FFF2-40B4-BE49-F238E27FC236}">
                <a16:creationId xmlns:a16="http://schemas.microsoft.com/office/drawing/2014/main" id="{F3302558-1D57-4D6F-A3D0-3950B9986391}"/>
              </a:ext>
            </a:extLst>
          </p:cNvPr>
          <p:cNvSpPr>
            <a:spLocks xmlns:a="http://schemas.openxmlformats.org/drawingml/2006/main" noGrp="1"/>
          </p:cNvSpPr>
          <p:nvPr/>
        </p:nvSpPr>
        <p:spPr>
          <a:xfrm xmlns:a="http://schemas.openxmlformats.org/drawingml/2006/main">
            <a:off x="9715500" y="2524125"/>
            <a:ext cx="1762125" cy="1952625"/>
          </a:xfrm>
          <a:prstGeom xmlns:a="http://schemas.openxmlformats.org/drawingml/2006/main" prst="rect">
            <a:avLst/>
          </a:prstGeom>
        </p:spPr>
        <p:txBody>
          <a:bodyPr xmlns:a="http://schemas.openxmlformats.org/drawingml/2006/main" lIns="0" tIns="0" rIns="0" bIns="0" anchor="t">
            <a:normAutofit fontScale="89016"/>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Fixed volatility remains best for average absolute error.
VIX remains best for squared error across all cost assumptions.</a:t>
            </a:r>
          </a:p>
        </p:txBody>
      </p:sp>
      <p:sp>
        <p:nvSpPr>
          <p:cNvPr id="12" name="robustness-foot">
            <a:extLst xmlns:a="http://schemas.openxmlformats.org/drawingml/2006/main">
              <a:ext uri="{FF2B5EF4-FFF2-40B4-BE49-F238E27FC236}">
                <a16:creationId xmlns:a16="http://schemas.microsoft.com/office/drawing/2014/main" id="{32909716-BEC5-4221-8149-CBA8DB293849}"/>
              </a:ext>
            </a:extLst>
          </p:cNvPr>
          <p:cNvSpPr>
            <a:spLocks xmlns:a="http://schemas.openxmlformats.org/drawingml/2006/main" noGrp="1"/>
          </p:cNvSpPr>
          <p:nvPr/>
        </p:nvSpPr>
        <p:spPr>
          <a:xfrm xmlns:a="http://schemas.openxmlformats.org/drawingml/2006/main">
            <a:off x="400050" y="5619750"/>
            <a:ext cx="80962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55555"/>
                </a:solidFill>
                <a:latin typeface="Helvetica Neue"/>
                <a:ea typeface="Helvetica Neue"/>
                <a:cs typeface="Helvetica Neue"/>
              </a:defRPr>
            </a:pPr>
            <a:r>
              <a:t>Results are also reported separately for all 9 maturity × moneyness combinations.</a:t>
            </a:r>
          </a:p>
        </p:txBody>
      </p:sp>
    </p:spTree>
    <p:extLst>
      <p:ext uri="{BB962C8B-B14F-4D97-AF65-F5344CB8AC3E}">
        <p14:creationId xmlns:p14="http://schemas.microsoft.com/office/powerpoint/2010/main" val="10139132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45940808-80EA-4680-9156-618259258E5B}"/>
              </a:ext>
            </a:extLst>
          </p:cNvPr>
          <p:cNvSpPr>
            <a:spLocks xmlns:a="http://schemas.openxmlformats.org/drawingml/2006/main" noGrp="1"/>
          </p:cNvSpPr>
          <p:nvPr/>
        </p:nvSpPr>
        <p:spPr>
          <a:xfrm xmlns:a="http://schemas.openxmlformats.org/drawingml/2006/main">
            <a:off x="393668" y="344043"/>
            <a:ext cx="108585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useful signal is simpler than the model we designed</a:t>
            </a:r>
          </a:p>
        </p:txBody>
      </p:sp>
      <p:sp>
        <p:nvSpPr>
          <p:cNvPr id="2" name="slide-number">
            <a:extLst xmlns:a="http://schemas.openxmlformats.org/drawingml/2006/main">
              <a:ext uri="{FF2B5EF4-FFF2-40B4-BE49-F238E27FC236}">
                <a16:creationId xmlns:a16="http://schemas.microsoft.com/office/drawing/2014/main" id="{80CB6E97-57A4-4CAF-AF03-7763925BDC92}"/>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3" name="big-conclusion">
            <a:extLst xmlns:a="http://schemas.openxmlformats.org/drawingml/2006/main">
              <a:ext uri="{FF2B5EF4-FFF2-40B4-BE49-F238E27FC236}">
                <a16:creationId xmlns:a16="http://schemas.microsoft.com/office/drawing/2014/main" id="{C7F493B5-74DA-4A46-85F6-4AFDD4B79B1C}"/>
              </a:ext>
            </a:extLst>
          </p:cNvPr>
          <p:cNvSpPr>
            <a:spLocks xmlns:a="http://schemas.openxmlformats.org/drawingml/2006/main" noGrp="1"/>
          </p:cNvSpPr>
          <p:nvPr/>
        </p:nvSpPr>
        <p:spPr>
          <a:xfrm xmlns:a="http://schemas.openxmlformats.org/drawingml/2006/main">
            <a:off x="400050" y="1524000"/>
            <a:ext cx="10668000" cy="1524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t>Forward-looking volatility improves tail-risk control—but more signals do not guarantee a better hedge.</a:t>
            </a:r>
          </a:p>
        </p:txBody>
      </p:sp>
      <p:sp>
        <p:nvSpPr>
          <p:cNvPr id="4" name="takeaway-1">
            <a:extLst xmlns:a="http://schemas.openxmlformats.org/drawingml/2006/main">
              <a:ext uri="{FF2B5EF4-FFF2-40B4-BE49-F238E27FC236}">
                <a16:creationId xmlns:a16="http://schemas.microsoft.com/office/drawing/2014/main" id="{24159741-07C5-4B8F-B18F-97106112D9EE}"/>
              </a:ext>
            </a:extLst>
          </p:cNvPr>
          <p:cNvSpPr>
            <a:spLocks xmlns:a="http://schemas.openxmlformats.org/drawingml/2006/main" noGrp="1"/>
          </p:cNvSpPr>
          <p:nvPr/>
        </p:nvSpPr>
        <p:spPr>
          <a:xfrm xmlns:a="http://schemas.openxmlformats.org/drawingml/2006/main">
            <a:off x="400050" y="3762375"/>
            <a:ext cx="3381375" cy="1571625"/>
          </a:xfrm>
          <a:prstGeom xmlns:a="http://schemas.openxmlformats.org/drawingml/2006/main" prst="roundRect">
            <a:avLst>
              <a:gd name="adj" fmla="val 4848"/>
            </a:avLst>
          </a:prstGeom>
          <a:solidFill xmlns:a="http://schemas.openxmlformats.org/drawingml/2006/main">
            <a:srgbClr val="EAF5FB"/>
          </a:solidFill>
          <a:ln xmlns:a="http://schemas.openxmlformats.org/drawingml/2006/main" w="0">
            <a:solidFill>
              <a:srgbClr val="EAF5FB"/>
            </a:solidFill>
            <a:prstDash val="solid"/>
          </a:ln>
        </p:spPr>
      </p:sp>
      <p:sp>
        <p:nvSpPr>
          <p:cNvPr id="5" name="takeaway-1-title">
            <a:extLst xmlns:a="http://schemas.openxmlformats.org/drawingml/2006/main">
              <a:ext uri="{FF2B5EF4-FFF2-40B4-BE49-F238E27FC236}">
                <a16:creationId xmlns:a16="http://schemas.microsoft.com/office/drawing/2014/main" id="{B4C5E88E-9924-4C08-B902-579DD9F77B69}"/>
              </a:ext>
            </a:extLst>
          </p:cNvPr>
          <p:cNvSpPr>
            <a:spLocks xmlns:a="http://schemas.openxmlformats.org/drawingml/2006/main" noGrp="1"/>
          </p:cNvSpPr>
          <p:nvPr/>
        </p:nvSpPr>
        <p:spPr>
          <a:xfrm xmlns:a="http://schemas.openxmlformats.org/drawingml/2006/main">
            <a:off x="666750" y="4048125"/>
            <a:ext cx="114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KEEP</a:t>
            </a:r>
          </a:p>
        </p:txBody>
      </p:sp>
      <p:sp>
        <p:nvSpPr>
          <p:cNvPr id="6" name="takeaway-1-copy">
            <a:extLst xmlns:a="http://schemas.openxmlformats.org/drawingml/2006/main">
              <a:ext uri="{FF2B5EF4-FFF2-40B4-BE49-F238E27FC236}">
                <a16:creationId xmlns:a16="http://schemas.microsoft.com/office/drawing/2014/main" id="{73BC51F8-5D1E-49B9-BF02-F3BD807F9A12}"/>
              </a:ext>
            </a:extLst>
          </p:cNvPr>
          <p:cNvSpPr>
            <a:spLocks xmlns:a="http://schemas.openxmlformats.org/drawingml/2006/main" noGrp="1"/>
          </p:cNvSpPr>
          <p:nvPr/>
        </p:nvSpPr>
        <p:spPr>
          <a:xfrm xmlns:a="http://schemas.openxmlformats.org/drawingml/2006/main">
            <a:off x="666750" y="4476750"/>
            <a:ext cx="2714625"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VIX-BS as the strongest tail-risk benchmark</a:t>
            </a:r>
          </a:p>
        </p:txBody>
      </p:sp>
      <p:sp>
        <p:nvSpPr>
          <p:cNvPr id="7" name="takeaway-2">
            <a:extLst xmlns:a="http://schemas.openxmlformats.org/drawingml/2006/main">
              <a:ext uri="{FF2B5EF4-FFF2-40B4-BE49-F238E27FC236}">
                <a16:creationId xmlns:a16="http://schemas.microsoft.com/office/drawing/2014/main" id="{C773F17F-3BE5-4808-9D23-95ACE9A73CD8}"/>
              </a:ext>
            </a:extLst>
          </p:cNvPr>
          <p:cNvSpPr>
            <a:spLocks xmlns:a="http://schemas.openxmlformats.org/drawingml/2006/main" noGrp="1"/>
          </p:cNvSpPr>
          <p:nvPr/>
        </p:nvSpPr>
        <p:spPr>
          <a:xfrm xmlns:a="http://schemas.openxmlformats.org/drawingml/2006/main">
            <a:off x="4238625" y="3762375"/>
            <a:ext cx="3381375" cy="1571625"/>
          </a:xfrm>
          <a:prstGeom xmlns:a="http://schemas.openxmlformats.org/drawingml/2006/main" prst="roundRect">
            <a:avLst>
              <a:gd name="adj" fmla="val 4848"/>
            </a:avLst>
          </a:prstGeom>
          <a:solidFill xmlns:a="http://schemas.openxmlformats.org/drawingml/2006/main">
            <a:srgbClr val="F2F2F2"/>
          </a:solidFill>
          <a:ln xmlns:a="http://schemas.openxmlformats.org/drawingml/2006/main" w="0">
            <a:solidFill>
              <a:srgbClr val="F2F2F2"/>
            </a:solidFill>
            <a:prstDash val="solid"/>
          </a:ln>
        </p:spPr>
      </p:sp>
      <p:sp>
        <p:nvSpPr>
          <p:cNvPr id="8" name="takeaway-2-title">
            <a:extLst xmlns:a="http://schemas.openxmlformats.org/drawingml/2006/main">
              <a:ext uri="{FF2B5EF4-FFF2-40B4-BE49-F238E27FC236}">
                <a16:creationId xmlns:a16="http://schemas.microsoft.com/office/drawing/2014/main" id="{26DB72EB-032A-426E-B071-700F67DA532B}"/>
              </a:ext>
            </a:extLst>
          </p:cNvPr>
          <p:cNvSpPr>
            <a:spLocks xmlns:a="http://schemas.openxmlformats.org/drawingml/2006/main" noGrp="1"/>
          </p:cNvSpPr>
          <p:nvPr/>
        </p:nvSpPr>
        <p:spPr>
          <a:xfrm xmlns:a="http://schemas.openxmlformats.org/drawingml/2006/main">
            <a:off x="4505325" y="4048125"/>
            <a:ext cx="114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t>REJECT</a:t>
            </a:r>
          </a:p>
        </p:txBody>
      </p:sp>
      <p:sp>
        <p:nvSpPr>
          <p:cNvPr id="9" name="takeaway-2-copy">
            <a:extLst xmlns:a="http://schemas.openxmlformats.org/drawingml/2006/main">
              <a:ext uri="{FF2B5EF4-FFF2-40B4-BE49-F238E27FC236}">
                <a16:creationId xmlns:a16="http://schemas.microsoft.com/office/drawing/2014/main" id="{B708F250-517F-4A2A-8773-3F7C636E8EA1}"/>
              </a:ext>
            </a:extLst>
          </p:cNvPr>
          <p:cNvSpPr>
            <a:spLocks xmlns:a="http://schemas.openxmlformats.org/drawingml/2006/main" noGrp="1"/>
          </p:cNvSpPr>
          <p:nvPr/>
        </p:nvSpPr>
        <p:spPr>
          <a:xfrm xmlns:a="http://schemas.openxmlformats.org/drawingml/2006/main">
            <a:off x="4505325" y="4476750"/>
            <a:ext cx="2714625" cy="619125"/>
          </a:xfrm>
          <a:prstGeom xmlns:a="http://schemas.openxmlformats.org/drawingml/2006/main" prst="rect">
            <a:avLst/>
          </a:prstGeom>
        </p:spPr>
        <p:txBody>
          <a:bodyPr xmlns:a="http://schemas.openxmlformats.org/drawingml/2006/main" lIns="0" tIns="0" rIns="0" bIns="0" anchor="t">
            <a:normAutofit fontScale="94354"/>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A blanket claim that complexity improves hedging</a:t>
            </a:r>
          </a:p>
        </p:txBody>
      </p:sp>
      <p:sp>
        <p:nvSpPr>
          <p:cNvPr id="10" name="takeaway-3">
            <a:extLst xmlns:a="http://schemas.openxmlformats.org/drawingml/2006/main">
              <a:ext uri="{FF2B5EF4-FFF2-40B4-BE49-F238E27FC236}">
                <a16:creationId xmlns:a16="http://schemas.microsoft.com/office/drawing/2014/main" id="{AFDE5679-5A6B-408C-B011-A990FE5CF278}"/>
              </a:ext>
            </a:extLst>
          </p:cNvPr>
          <p:cNvSpPr>
            <a:spLocks xmlns:a="http://schemas.openxmlformats.org/drawingml/2006/main" noGrp="1"/>
          </p:cNvSpPr>
          <p:nvPr/>
        </p:nvSpPr>
        <p:spPr>
          <a:xfrm xmlns:a="http://schemas.openxmlformats.org/drawingml/2006/main">
            <a:off x="8077200" y="3762375"/>
            <a:ext cx="3381375" cy="1571625"/>
          </a:xfrm>
          <a:prstGeom xmlns:a="http://schemas.openxmlformats.org/drawingml/2006/main" prst="roundRect">
            <a:avLst>
              <a:gd name="adj" fmla="val 4848"/>
            </a:avLst>
          </a:prstGeom>
          <a:solidFill xmlns:a="http://schemas.openxmlformats.org/drawingml/2006/main">
            <a:srgbClr val="F2F2F2"/>
          </a:solidFill>
          <a:ln xmlns:a="http://schemas.openxmlformats.org/drawingml/2006/main" w="0">
            <a:solidFill>
              <a:srgbClr val="F2F2F2"/>
            </a:solidFill>
            <a:prstDash val="solid"/>
          </a:ln>
        </p:spPr>
      </p:sp>
      <p:sp>
        <p:nvSpPr>
          <p:cNvPr id="11" name="takeaway-3-title">
            <a:extLst xmlns:a="http://schemas.openxmlformats.org/drawingml/2006/main">
              <a:ext uri="{FF2B5EF4-FFF2-40B4-BE49-F238E27FC236}">
                <a16:creationId xmlns:a16="http://schemas.microsoft.com/office/drawing/2014/main" id="{BE626344-9077-49CC-97D3-372BE8400A69}"/>
              </a:ext>
            </a:extLst>
          </p:cNvPr>
          <p:cNvSpPr>
            <a:spLocks xmlns:a="http://schemas.openxmlformats.org/drawingml/2006/main" noGrp="1"/>
          </p:cNvSpPr>
          <p:nvPr/>
        </p:nvSpPr>
        <p:spPr>
          <a:xfrm xmlns:a="http://schemas.openxmlformats.org/drawingml/2006/main">
            <a:off x="8343900" y="4048125"/>
            <a:ext cx="1143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00000"/>
                </a:solidFill>
                <a:latin typeface="Helvetica Neue"/>
                <a:ea typeface="Helvetica Neue"/>
                <a:cs typeface="Helvetica Neue"/>
              </a:defRPr>
            </a:pPr>
            <a:r>
              <a:t>NEXT</a:t>
            </a:r>
          </a:p>
        </p:txBody>
      </p:sp>
      <p:sp>
        <p:nvSpPr>
          <p:cNvPr id="12" name="takeaway-3-copy">
            <a:extLst xmlns:a="http://schemas.openxmlformats.org/drawingml/2006/main">
              <a:ext uri="{FF2B5EF4-FFF2-40B4-BE49-F238E27FC236}">
                <a16:creationId xmlns:a16="http://schemas.microsoft.com/office/drawing/2014/main" id="{E48A5E22-D85F-4326-B1AD-49ECDC32F84C}"/>
              </a:ext>
            </a:extLst>
          </p:cNvPr>
          <p:cNvSpPr>
            <a:spLocks xmlns:a="http://schemas.openxmlformats.org/drawingml/2006/main" noGrp="1"/>
          </p:cNvSpPr>
          <p:nvPr/>
        </p:nvSpPr>
        <p:spPr>
          <a:xfrm xmlns:a="http://schemas.openxmlformats.org/drawingml/2006/main">
            <a:off x="8343900" y="4476750"/>
            <a:ext cx="2714625"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t>Test contract-level option data when available</a:t>
            </a:r>
          </a:p>
        </p:txBody>
      </p:sp>
      <p:sp>
        <p:nvSpPr>
          <p:cNvPr id="13" name="closing">
            <a:extLst xmlns:a="http://schemas.openxmlformats.org/drawingml/2006/main">
              <a:ext uri="{FF2B5EF4-FFF2-40B4-BE49-F238E27FC236}">
                <a16:creationId xmlns:a16="http://schemas.microsoft.com/office/drawing/2014/main" id="{D9D34205-95A7-4895-A9F9-09E77FC742B1}"/>
              </a:ext>
            </a:extLst>
          </p:cNvPr>
          <p:cNvSpPr>
            <a:spLocks xmlns:a="http://schemas.openxmlformats.org/drawingml/2006/main" noGrp="1"/>
          </p:cNvSpPr>
          <p:nvPr/>
        </p:nvSpPr>
        <p:spPr>
          <a:xfrm xmlns:a="http://schemas.openxmlformats.org/drawingml/2006/main">
            <a:off x="400050" y="5905500"/>
            <a:ext cx="2381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t>Questions</a:t>
            </a:r>
          </a:p>
        </p:txBody>
      </p:sp>
    </p:spTree>
    <p:extLst>
      <p:ext uri="{BB962C8B-B14F-4D97-AF65-F5344CB8AC3E}">
        <p14:creationId xmlns:p14="http://schemas.microsoft.com/office/powerpoint/2010/main" val="1919331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2026-07-11T00:15:54.9970000Z</dcterms:created>
  <dcterms:modified xsi:type="dcterms:W3CDTF">2026-07-11T00:15:54.9970000Z</dcterms:modified>
</coreProperties>
</file>